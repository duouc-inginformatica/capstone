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71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2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>
              <a:solidFill>
                <a:schemeClr val="bg1"/>
              </a:solidFill>
            </a:rPr>
            <a:t>Sebastián Muñoz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Master</a:t>
          </a:r>
          <a:endParaRPr lang="es-CL" dirty="0">
            <a:solidFill>
              <a:schemeClr val="bg1"/>
            </a:solidFill>
          </a:endParaRPr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>
              <a:solidFill>
                <a:schemeClr val="bg1"/>
              </a:solidFill>
            </a:rPr>
            <a:t>Roberto Zurita</a:t>
          </a:r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 dirty="0">
              <a:solidFill>
                <a:schemeClr val="bg1"/>
              </a:solidFill>
            </a:rPr>
            <a:t>Samuel Jiménez</a:t>
          </a:r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Eliminar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Bloqueantes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diseñar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Arquitectura</a:t>
          </a:r>
          <a:endParaRPr lang="es-CL" dirty="0">
            <a:solidFill>
              <a:schemeClr val="bg1"/>
            </a:solidFill>
          </a:endParaRP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 Owner</a:t>
          </a:r>
          <a:endParaRPr lang="es-CL" dirty="0">
            <a:solidFill>
              <a:schemeClr val="bg1"/>
            </a:solidFill>
          </a:endParaRPr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Team</a:t>
          </a:r>
          <a:endParaRPr lang="es-CL" dirty="0">
            <a:solidFill>
              <a:schemeClr val="bg1"/>
            </a:solidFill>
          </a:endParaRPr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FA91A3A3-78C0-4260-89D6-DB662292B897}">
      <dgm:prSet/>
      <dgm:spPr/>
      <dgm:t>
        <a:bodyPr/>
        <a:lstStyle/>
        <a:p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Construir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funcionalidades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asegurar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calidad</a:t>
          </a:r>
          <a:endParaRPr lang="en-US" i="1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gm:t>
    </dgm:pt>
    <dgm:pt modelId="{27B0E548-5806-4DE4-8F79-49FA3C998567}" type="parTrans" cxnId="{CACAC7E6-AFC8-4F80-98CE-9805C44052E9}">
      <dgm:prSet/>
      <dgm:spPr/>
      <dgm:t>
        <a:bodyPr/>
        <a:lstStyle/>
        <a:p>
          <a:endParaRPr lang="es-CL"/>
        </a:p>
      </dgm:t>
    </dgm:pt>
    <dgm:pt modelId="{02186386-4B95-4F73-9C1D-863DB6D2BEB3}" type="sibTrans" cxnId="{CACAC7E6-AFC8-4F80-98CE-9805C44052E9}">
      <dgm:prSet/>
      <dgm:spPr/>
      <dgm:t>
        <a:bodyPr/>
        <a:lstStyle/>
        <a:p>
          <a:endParaRPr lang="es-CL"/>
        </a:p>
      </dgm:t>
    </dgm:pt>
    <dgm:pt modelId="{8CE55C66-EC9D-4982-8942-EACDC1A7720C}">
      <dgm:prSet/>
      <dgm:spPr/>
      <dgm:t>
        <a:bodyPr/>
        <a:lstStyle/>
        <a:p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Definir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Prioridad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Backlog -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Comunicar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la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visión</a:t>
          </a:r>
          <a:r>
            <a:rPr lang="en-US" i="1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</a:t>
          </a:r>
          <a:r>
            <a:rPr lang="en-US" i="1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producto</a:t>
          </a:r>
          <a:endParaRPr lang="en-US" i="1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gm:t>
    </dgm:pt>
    <dgm:pt modelId="{3CB8BAAF-8D60-422B-8231-42BEFE448B7D}" type="parTrans" cxnId="{EDEFE876-0A3D-4C95-A1E1-A4137461188E}">
      <dgm:prSet/>
      <dgm:spPr/>
      <dgm:t>
        <a:bodyPr/>
        <a:lstStyle/>
        <a:p>
          <a:endParaRPr lang="es-CL"/>
        </a:p>
      </dgm:t>
    </dgm:pt>
    <dgm:pt modelId="{C94E8E56-6638-4960-BEDB-4899C2CC1052}" type="sibTrans" cxnId="{EDEFE876-0A3D-4C95-A1E1-A4137461188E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 custLinFactNeighborX="-464" custLinFactNeighborY="634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91DCDB24-7C46-44B8-A6A6-773D8225EC18}" type="presOf" srcId="{8CE55C66-EC9D-4982-8942-EACDC1A7720C}" destId="{0E12AD21-08CC-4736-A269-DD5234F9D874}" srcOrd="1" destOrd="2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16E3926F-F4EC-482A-8988-40ED7DC39B82}" type="presOf" srcId="{FA91A3A3-78C0-4260-89D6-DB662292B897}" destId="{CFFDF23F-D296-4CDF-8EE4-8A672559E207}" srcOrd="1" destOrd="2" presId="urn:microsoft.com/office/officeart/2005/8/layout/vList4"/>
    <dgm:cxn modelId="{1B640B73-C868-4F67-965A-E5678365EB2B}" type="presOf" srcId="{8CE55C66-EC9D-4982-8942-EACDC1A7720C}" destId="{F36F4ED1-B414-46B8-A8C5-C0FB11F5CFBC}" srcOrd="0" destOrd="2" presId="urn:microsoft.com/office/officeart/2005/8/layout/vList4"/>
    <dgm:cxn modelId="{EDEFE876-0A3D-4C95-A1E1-A4137461188E}" srcId="{99FF0D0F-282A-4030-9AF5-3B7621881539}" destId="{8CE55C66-EC9D-4982-8942-EACDC1A7720C}" srcOrd="1" destOrd="0" parTransId="{3CB8BAAF-8D60-422B-8231-42BEFE448B7D}" sibTransId="{C94E8E56-6638-4960-BEDB-4899C2CC1052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28F538F-AC05-4969-9BA7-11C3CCE96657}" type="presOf" srcId="{FA91A3A3-78C0-4260-89D6-DB662292B897}" destId="{39AFE128-ACF6-44CA-B18B-64F5782CF210}" srcOrd="0" destOrd="2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CACAC7E6-AFC8-4F80-98CE-9805C44052E9}" srcId="{02A34BC0-F8BA-4A89-87A4-4F20079DFD06}" destId="{FA91A3A3-78C0-4260-89D6-DB662292B897}" srcOrd="1" destOrd="0" parTransId="{27B0E548-5806-4DE4-8F79-49FA3C998567}" sibTransId="{02186386-4B95-4F73-9C1D-863DB6D2BEB3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>
              <a:solidFill>
                <a:schemeClr val="bg1"/>
              </a:solidFill>
            </a:rPr>
            <a:t>Sebastián Muñoz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Master</a:t>
          </a:r>
          <a:endParaRPr lang="es-CL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Eliminar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Bloqueantes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diseñar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Arquitectura</a:t>
          </a:r>
          <a:endParaRPr lang="es-CL" sz="1700" kern="1200" dirty="0">
            <a:solidFill>
              <a:schemeClr val="bg1"/>
            </a:solidFill>
          </a:endParaRPr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50412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>
              <a:solidFill>
                <a:schemeClr val="bg1"/>
              </a:solidFill>
            </a:rPr>
            <a:t>Roberto Zurita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Scrum Team</a:t>
          </a:r>
          <a:endParaRPr lang="es-CL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Construir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funcionalidades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-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asegurar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calidad</a:t>
          </a:r>
          <a:endParaRPr lang="en-US" sz="1700" i="1" kern="1200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sp:txBody>
      <dsp:txXfrm>
        <a:off x="1662653" y="150412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>
              <a:solidFill>
                <a:schemeClr val="bg1"/>
              </a:solidFill>
            </a:rPr>
            <a:t>Samuel Jiménez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 Owner</a:t>
          </a:r>
          <a:endParaRPr lang="es-CL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Definir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Prioridad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Backlog -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Comunicar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la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visión</a:t>
          </a:r>
          <a:r>
            <a:rPr lang="en-US" sz="1700" i="1" kern="1200" dirty="0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 del </a:t>
          </a:r>
          <a:r>
            <a:rPr lang="en-US" sz="1700" i="1" kern="1200" dirty="0" err="1">
              <a:solidFill>
                <a:schemeClr val="bg1"/>
              </a:solidFill>
              <a:latin typeface="Agrandir Italics"/>
              <a:ea typeface="Agrandir Italics"/>
              <a:cs typeface="Agrandir Italics"/>
              <a:sym typeface="Agrandir Italics"/>
            </a:rPr>
            <a:t>producto</a:t>
          </a:r>
          <a:endParaRPr lang="en-US" sz="1700" i="1" kern="1200" dirty="0">
            <a:solidFill>
              <a:schemeClr val="bg1"/>
            </a:solidFill>
            <a:latin typeface="Agrandir Italics"/>
            <a:ea typeface="Agrandir Italics"/>
            <a:cs typeface="Agrandir Italics"/>
            <a:sym typeface="Agrandir Italics"/>
          </a:endParaRPr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1.xml"/><Relationship Id="rId9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en-US" sz="4400" b="1" i="1" dirty="0">
                <a:solidFill>
                  <a:srgbClr val="000000"/>
                </a:solidFill>
                <a:latin typeface="Agrandir Heavy Italics"/>
                <a:ea typeface="Agrandir Heavy Italics"/>
                <a:cs typeface="Agrandir Heavy Italics"/>
                <a:sym typeface="Agrandir Heavy Italics"/>
              </a:rPr>
              <a:t>WayfindCL</a:t>
            </a:r>
            <a:r>
              <a:rPr lang="es-MX" sz="4400" dirty="0"/>
              <a:t>”</a:t>
            </a:r>
          </a:p>
          <a:p>
            <a:pPr algn="ctr"/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Plataforma para mejorar la </a:t>
            </a:r>
            <a:r>
              <a:rPr lang="es-CL" sz="2400" i="1" noProof="0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accesibilidad</a:t>
            </a: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de personas NO </a:t>
            </a:r>
            <a:r>
              <a:rPr lang="en-US" sz="2400" i="1" dirty="0" err="1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videntes</a:t>
            </a:r>
            <a:endParaRPr lang="en-US" sz="2400" i="1" dirty="0">
              <a:solidFill>
                <a:srgbClr val="000000"/>
              </a:solidFill>
              <a:latin typeface="Agrandir Italics"/>
              <a:ea typeface="Agrandir Italics"/>
              <a:cs typeface="Agrandir Italics"/>
              <a:sym typeface="Agrandir Italics"/>
            </a:endParaRPr>
          </a:p>
          <a:p>
            <a:pPr algn="ctr"/>
            <a:r>
              <a:rPr lang="es-MX" sz="2400" dirty="0"/>
              <a:t>PRESENTACIÓN FINAL CAPSTONE</a:t>
            </a:r>
            <a:br>
              <a:rPr lang="es-MX" sz="2400" dirty="0"/>
            </a:br>
            <a:endParaRPr lang="es-MX" sz="2400" dirty="0"/>
          </a:p>
          <a:p>
            <a:pPr algn="ctr"/>
            <a:endParaRPr lang="es-MX" sz="2400" dirty="0"/>
          </a:p>
          <a:p>
            <a:pPr algn="ctr"/>
            <a:endParaRPr lang="es-MX" sz="2400" dirty="0"/>
          </a:p>
          <a:p>
            <a:pPr algn="ctr"/>
            <a:endParaRPr lang="es-MX" sz="2400" dirty="0"/>
          </a:p>
          <a:p>
            <a:pPr lvl="0">
              <a:lnSpc>
                <a:spcPts val="2120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Por  Roberto Zurita, Sebastián Muñoz Samuel Jimenez </a:t>
            </a:r>
          </a:p>
          <a:p>
            <a:pPr lvl="0">
              <a:lnSpc>
                <a:spcPts val="2120"/>
              </a:lnSpc>
              <a:spcBef>
                <a:spcPct val="0"/>
              </a:spcBef>
            </a:pP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Sabado, 18 </a:t>
            </a:r>
            <a:r>
              <a:rPr lang="en-US" sz="2400" i="1" dirty="0" err="1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Octubre</a:t>
            </a:r>
            <a:r>
              <a:rPr lang="en-US" sz="2400" i="1" dirty="0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2025.</a:t>
            </a:r>
          </a:p>
          <a:p>
            <a:pPr algn="ctr"/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597402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15868" y="230894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-238329" y="63610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8A67A538-39A0-66D8-FFC4-88379255A5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9472280"/>
                  </p:ext>
                </p:extLst>
              </p:nvPr>
            </p:nvGraphicFramePr>
            <p:xfrm>
              <a:off x="-3454400" y="1774190"/>
              <a:ext cx="3048000" cy="1714500"/>
            </p:xfrm>
            <a:graphic>
              <a:graphicData uri="http://schemas.microsoft.com/office/powerpoint/2016/slidezoom">
                <pslz:sldZm>
                  <pslz:sldZmObj sldId="257" cId="2436815989">
                    <pslz:zmPr id="{94A7D015-2AE4-4568-B4E8-89166C08EC11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A67A538-39A0-66D8-FFC4-88379255A5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3454400" y="177419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dirty="0"/>
              <a:t>Las personas no videntes tienen problemas para orientarse dentro de la ciudad, las calles, paraderos y letreros pocas veces tienen señalización táctil o auditiva, tienen dificultad para identificar las micros que llegan a los paraderos, y cuando bajarse, necesitan pedir ayuda constantemente a desconocidos, esto sumado a la escasez de herramientas inclusivas genera estrés y ansiedad en los trayectos. 	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Nuestra solución es el desarrollo de una aplicación móvil capaz de entregar autonomía al usuario, creando una guía auditiva precisa en indicaciones y uso del trasporte publico.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75A73D3-82DC-6DD3-6F31-CB7CC5DD44CA}"/>
              </a:ext>
            </a:extLst>
          </p:cNvPr>
          <p:cNvSpPr txBox="1"/>
          <p:nvPr/>
        </p:nvSpPr>
        <p:spPr>
          <a:xfrm>
            <a:off x="115868" y="230894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Mejorar la seguridad en los trayectos de las personas con discapacidad visual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Disminuir los tiempos en los trayectos de las personas no vidente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Aumentar la autonomía de las personas no videntes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Disminuir el riesgo de perderse de las personas no videntes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A76B0A0-B494-3D5C-06E2-1FCE53F1F803}"/>
              </a:ext>
            </a:extLst>
          </p:cNvPr>
          <p:cNvSpPr/>
          <p:nvPr/>
        </p:nvSpPr>
        <p:spPr>
          <a:xfrm>
            <a:off x="328399" y="2396471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Alcance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- Se creará un sistema capaz de guiar al usuario a un destino por guías auditivas.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- El sistema será capaz de entregar información en tiempo real de los recorridos de los buses.</a:t>
            </a:r>
          </a:p>
          <a:p>
            <a:pPr lvl="0" algn="just"/>
            <a:endParaRPr lang="es-CL" sz="1800" dirty="0"/>
          </a:p>
          <a:p>
            <a:pPr lvl="0" algn="just"/>
            <a:r>
              <a:rPr lang="es-CL" dirty="0"/>
              <a:t>- Entregará notificaciones constantes y confirmación de acción por un sistema de vibración. 	</a:t>
            </a:r>
            <a:endParaRPr lang="es-CL" sz="18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183BBFA-8AF0-B7BF-357E-32F24EB0A5D0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Limitaciones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- El sistema solo será funcional para los operadores concesionados del sistema Red Movilidad, no podrá predecir o generar ruta con sistemas de trasporte externos a la Red, por lo que la aplicación esta pensada para funcionar de forma completa dentro de Santiago.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- El sistema dependerá de la integración con red para predecir los recorridos de los buses. </a:t>
            </a:r>
          </a:p>
          <a:p>
            <a:pPr lvl="0" algn="just"/>
            <a:endParaRPr lang="es-MX" sz="1800" dirty="0"/>
          </a:p>
          <a:p>
            <a:pPr lvl="0" algn="just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ÁGIL CON SCRUM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C7B9B7F-AA4B-4F2F-FD6C-1AA5668DFCD9}"/>
              </a:ext>
            </a:extLst>
          </p:cNvPr>
          <p:cNvSpPr/>
          <p:nvPr/>
        </p:nvSpPr>
        <p:spPr>
          <a:xfrm>
            <a:off x="303419" y="2254231"/>
            <a:ext cx="11585159" cy="4396219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Metodología ágil (Scrum): Trabajaremos con Scrum, organizando el proyecto en </a:t>
            </a:r>
            <a:r>
              <a:rPr lang="es-MX" sz="2400" dirty="0" err="1"/>
              <a:t>sprints</a:t>
            </a:r>
            <a:r>
              <a:rPr lang="es-MX" sz="2400" dirty="0"/>
              <a:t> de 2 semanas para avanzar de forma iterativa e incremental.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Gestión en Jira: Utilizaremos Jira para administrar el backlog, registrar épicas e historias de usuario, y dar seguimiento al progreso del equipo.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Entregas parciales (</a:t>
            </a:r>
            <a:r>
              <a:rPr lang="es-MX" sz="2400" dirty="0" err="1"/>
              <a:t>releases</a:t>
            </a:r>
            <a:r>
              <a:rPr lang="es-MX" sz="2400" dirty="0"/>
              <a:t>): Cada sprint generará un incremento funcional de la aplicación, lo que permite revisar, probar y mejorar continuamente.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s-MX" sz="2400" dirty="0"/>
              <a:t>Colaboración y adaptabilidad: El equipo se reunirá regularmente para coordinar tareas, revisar avances y adaptarse rápidamente a cambios en los requerimientos.</a:t>
            </a:r>
          </a:p>
          <a:p>
            <a:pPr lvl="0" algn="ctr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91B6-672E-AE19-3DDC-551DB10E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2D33CC-D9ED-C11C-3202-E82809478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7C7D4D2-7652-2853-748E-C9DA3B40F5B8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E4FF0A-6294-78ED-3A85-7A0B1C02270B}"/>
              </a:ext>
            </a:extLst>
          </p:cNvPr>
          <p:cNvSpPr txBox="1"/>
          <p:nvPr/>
        </p:nvSpPr>
        <p:spPr>
          <a:xfrm>
            <a:off x="-278441" y="64036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Release Plan del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B42D881-671C-9FDC-4367-8F67F402142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5885D33-E9B5-B29B-CDBE-F6F216EB2562}"/>
              </a:ext>
            </a:extLst>
          </p:cNvPr>
          <p:cNvSpPr/>
          <p:nvPr/>
        </p:nvSpPr>
        <p:spPr>
          <a:xfrm>
            <a:off x="62441" y="1404358"/>
            <a:ext cx="2099280" cy="89255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1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11-08- al 22-08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E159F3B-9037-77B4-A64D-F7F8D39AC63D}"/>
              </a:ext>
            </a:extLst>
          </p:cNvPr>
          <p:cNvSpPr/>
          <p:nvPr/>
        </p:nvSpPr>
        <p:spPr>
          <a:xfrm>
            <a:off x="2949721" y="1405306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2 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25-08 al 05-09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86CFE0B-ADF5-63BD-2BD8-3FA89B97B19C}"/>
              </a:ext>
            </a:extLst>
          </p:cNvPr>
          <p:cNvSpPr/>
          <p:nvPr/>
        </p:nvSpPr>
        <p:spPr>
          <a:xfrm>
            <a:off x="6096000" y="1401466"/>
            <a:ext cx="2174967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3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08-09 al 19-09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446AB3F-31EF-A7A4-5193-6599142580DD}"/>
              </a:ext>
            </a:extLst>
          </p:cNvPr>
          <p:cNvSpPr/>
          <p:nvPr/>
        </p:nvSpPr>
        <p:spPr>
          <a:xfrm>
            <a:off x="9333513" y="1411933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4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22-09 al 3-10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D72A16A-0DF9-0457-2480-C2A1486D5C6B}"/>
              </a:ext>
            </a:extLst>
          </p:cNvPr>
          <p:cNvCxnSpPr/>
          <p:nvPr/>
        </p:nvCxnSpPr>
        <p:spPr>
          <a:xfrm>
            <a:off x="62441" y="3920886"/>
            <a:ext cx="116423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30B8D41-8F74-A624-F70B-9F398C16C8EE}"/>
              </a:ext>
            </a:extLst>
          </p:cNvPr>
          <p:cNvSpPr txBox="1"/>
          <p:nvPr/>
        </p:nvSpPr>
        <p:spPr>
          <a:xfrm>
            <a:off x="11256991" y="3582332"/>
            <a:ext cx="1125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err="1"/>
              <a:t>Release</a:t>
            </a:r>
            <a:r>
              <a:rPr lang="es-MX" sz="1600" dirty="0"/>
              <a:t> 1	</a:t>
            </a:r>
            <a:endParaRPr lang="es-CL" sz="16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2D9EAC-17A9-2C4A-188A-61EEB1947C69}"/>
              </a:ext>
            </a:extLst>
          </p:cNvPr>
          <p:cNvSpPr txBox="1"/>
          <p:nvPr/>
        </p:nvSpPr>
        <p:spPr>
          <a:xfrm>
            <a:off x="11199771" y="6547769"/>
            <a:ext cx="12403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err="1"/>
              <a:t>Release</a:t>
            </a:r>
            <a:r>
              <a:rPr lang="es-MX" sz="1600" dirty="0"/>
              <a:t> 2	</a:t>
            </a:r>
            <a:endParaRPr lang="es-CL" sz="160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C360034-6E71-ED15-4532-9CA65AC27FAE}"/>
              </a:ext>
            </a:extLst>
          </p:cNvPr>
          <p:cNvSpPr/>
          <p:nvPr/>
        </p:nvSpPr>
        <p:spPr>
          <a:xfrm>
            <a:off x="325968" y="2385641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Activar la app por voz</a:t>
            </a:r>
            <a:endParaRPr lang="es-CL" sz="1000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704ADCA-7F43-EC96-F4A4-9D0C558344C7}"/>
              </a:ext>
            </a:extLst>
          </p:cNvPr>
          <p:cNvSpPr/>
          <p:nvPr/>
        </p:nvSpPr>
        <p:spPr>
          <a:xfrm>
            <a:off x="325967" y="2758227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Confirmación de destino reconocido</a:t>
            </a:r>
            <a:endParaRPr lang="es-CL" sz="10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15CD1BA-574D-18F2-1EEF-1FFE381F00D2}"/>
              </a:ext>
            </a:extLst>
          </p:cNvPr>
          <p:cNvSpPr/>
          <p:nvPr/>
        </p:nvSpPr>
        <p:spPr>
          <a:xfrm>
            <a:off x="325967" y="3141352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Captura de destino por voz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D6DD559-FC5E-B789-FA56-E0140799ADD3}"/>
              </a:ext>
            </a:extLst>
          </p:cNvPr>
          <p:cNvSpPr/>
          <p:nvPr/>
        </p:nvSpPr>
        <p:spPr>
          <a:xfrm>
            <a:off x="325967" y="3508353"/>
            <a:ext cx="1665452" cy="3238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Voz que lee instrucciones de ruta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D52EA8E-A72A-4F31-B838-5209D0724464}"/>
              </a:ext>
            </a:extLst>
          </p:cNvPr>
          <p:cNvSpPr/>
          <p:nvPr/>
        </p:nvSpPr>
        <p:spPr>
          <a:xfrm>
            <a:off x="9607380" y="2957660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Repetición bajo demanda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359E4AC-DF86-16AA-403C-2C6CF360227E}"/>
              </a:ext>
            </a:extLst>
          </p:cNvPr>
          <p:cNvSpPr/>
          <p:nvPr/>
        </p:nvSpPr>
        <p:spPr>
          <a:xfrm>
            <a:off x="9611997" y="2433946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Recomendar micro y paradero de subida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2352133-587C-40EB-0E4D-39A1115CE557}"/>
              </a:ext>
            </a:extLst>
          </p:cNvPr>
          <p:cNvSpPr/>
          <p:nvPr/>
        </p:nvSpPr>
        <p:spPr>
          <a:xfrm>
            <a:off x="9607380" y="5373249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Flujo 100% por voz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86ABABA-D694-FF5A-EE92-DCC680577654}"/>
              </a:ext>
            </a:extLst>
          </p:cNvPr>
          <p:cNvSpPr/>
          <p:nvPr/>
        </p:nvSpPr>
        <p:spPr>
          <a:xfrm>
            <a:off x="3092419" y="2941858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Recalcular ruta si me desvió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E9639C3-E36F-B500-60B1-3E0E87DD2FEC}"/>
              </a:ext>
            </a:extLst>
          </p:cNvPr>
          <p:cNvSpPr/>
          <p:nvPr/>
        </p:nvSpPr>
        <p:spPr>
          <a:xfrm>
            <a:off x="6362000" y="2433946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Obtener ruta básica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2F8E02B-4051-CAA8-9150-38011C1FC030}"/>
              </a:ext>
            </a:extLst>
          </p:cNvPr>
          <p:cNvSpPr/>
          <p:nvPr/>
        </p:nvSpPr>
        <p:spPr>
          <a:xfrm>
            <a:off x="6374374" y="2990258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Validación de dirección existente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7A534B5-EF6A-6682-141C-F1D75FEFFA59}"/>
              </a:ext>
            </a:extLst>
          </p:cNvPr>
          <p:cNvSpPr/>
          <p:nvPr/>
        </p:nvSpPr>
        <p:spPr>
          <a:xfrm>
            <a:off x="6362000" y="3464444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Ruta combinada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1633FDAD-127A-AFE3-0A19-6AA486BAD18D}"/>
              </a:ext>
            </a:extLst>
          </p:cNvPr>
          <p:cNvSpPr/>
          <p:nvPr/>
        </p:nvSpPr>
        <p:spPr>
          <a:xfrm>
            <a:off x="3158860" y="5863408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Alternativas de ruta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CDDE8CD-4BF5-04B1-F49F-D716342717D7}"/>
              </a:ext>
            </a:extLst>
          </p:cNvPr>
          <p:cNvSpPr/>
          <p:nvPr/>
        </p:nvSpPr>
        <p:spPr>
          <a:xfrm>
            <a:off x="3158860" y="6346292"/>
            <a:ext cx="1665452" cy="4114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Guardar destinos frecuente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FD7999F-6F73-C15D-1BAB-AFECCA5D35BA}"/>
              </a:ext>
            </a:extLst>
          </p:cNvPr>
          <p:cNvSpPr/>
          <p:nvPr/>
        </p:nvSpPr>
        <p:spPr>
          <a:xfrm>
            <a:off x="6362000" y="4928209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Reportar problema por voz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6F473EE2-5CAE-1D2C-44DE-A7E64528B64F}"/>
              </a:ext>
            </a:extLst>
          </p:cNvPr>
          <p:cNvSpPr/>
          <p:nvPr/>
        </p:nvSpPr>
        <p:spPr>
          <a:xfrm>
            <a:off x="9607380" y="3436017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Próxima llegada de micro en tiempo real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68F4FD2E-26A1-8AFD-AA44-0FD9FCF80CEC}"/>
              </a:ext>
            </a:extLst>
          </p:cNvPr>
          <p:cNvSpPr/>
          <p:nvPr/>
        </p:nvSpPr>
        <p:spPr>
          <a:xfrm>
            <a:off x="279355" y="4931101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Recordar antes de llegar al paradero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4226C2-989D-CA6C-E8D2-617581DFCF78}"/>
              </a:ext>
            </a:extLst>
          </p:cNvPr>
          <p:cNvSpPr/>
          <p:nvPr/>
        </p:nvSpPr>
        <p:spPr>
          <a:xfrm>
            <a:off x="3158860" y="5393625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Avisar retrasos o desvió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08EBA8D-0E6B-C030-384A-E81249DD1FBC}"/>
              </a:ext>
            </a:extLst>
          </p:cNvPr>
          <p:cNvSpPr/>
          <p:nvPr/>
        </p:nvSpPr>
        <p:spPr>
          <a:xfrm>
            <a:off x="275169" y="5387342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Alerta para subir a la micro correcta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DFDDF7A-7938-46A2-DCD7-C84CE7176080}"/>
              </a:ext>
            </a:extLst>
          </p:cNvPr>
          <p:cNvSpPr/>
          <p:nvPr/>
        </p:nvSpPr>
        <p:spPr>
          <a:xfrm>
            <a:off x="275169" y="5893630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Alerta de desviación de ruta 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B7C4D73-D69C-C295-B5CE-A69761F32135}"/>
              </a:ext>
            </a:extLst>
          </p:cNvPr>
          <p:cNvSpPr/>
          <p:nvPr/>
        </p:nvSpPr>
        <p:spPr>
          <a:xfrm>
            <a:off x="6374374" y="5387342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Alerta para bajar en el destino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CDC08DD-3BA0-C679-9061-6455248011CA}"/>
              </a:ext>
            </a:extLst>
          </p:cNvPr>
          <p:cNvSpPr/>
          <p:nvPr/>
        </p:nvSpPr>
        <p:spPr>
          <a:xfrm>
            <a:off x="6374374" y="5898175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Anuncios periódicos del recorrido 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A8FC6369-41D8-359C-1F8C-BD85B0154923}"/>
              </a:ext>
            </a:extLst>
          </p:cNvPr>
          <p:cNvSpPr/>
          <p:nvPr/>
        </p:nvSpPr>
        <p:spPr>
          <a:xfrm>
            <a:off x="3092419" y="2433946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Confirmar micro abordada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54B736A-B3A9-9519-0C3B-EC3E92BD0842}"/>
              </a:ext>
            </a:extLst>
          </p:cNvPr>
          <p:cNvSpPr/>
          <p:nvPr/>
        </p:nvSpPr>
        <p:spPr>
          <a:xfrm>
            <a:off x="3068194" y="3446700"/>
            <a:ext cx="1665452" cy="4114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Seguimiento en tiempo real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9AB477F-C851-78C0-0702-F125BA93C2CB}"/>
              </a:ext>
            </a:extLst>
          </p:cNvPr>
          <p:cNvSpPr/>
          <p:nvPr/>
        </p:nvSpPr>
        <p:spPr>
          <a:xfrm>
            <a:off x="3158860" y="4932174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Vibración de confirmación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EFBE97DA-06C9-55F6-26F5-2C2AA3AAFB96}"/>
              </a:ext>
            </a:extLst>
          </p:cNvPr>
          <p:cNvSpPr/>
          <p:nvPr/>
        </p:nvSpPr>
        <p:spPr>
          <a:xfrm>
            <a:off x="9607380" y="4928209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Privacidad y manejo mínimo de datos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2D7AD19A-F65C-488A-821E-A62019FF5E95}"/>
              </a:ext>
            </a:extLst>
          </p:cNvPr>
          <p:cNvSpPr/>
          <p:nvPr/>
        </p:nvSpPr>
        <p:spPr>
          <a:xfrm>
            <a:off x="9607380" y="5850080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Modo tutorial para uso inicial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B98B00CB-D913-1143-965E-8ABC302FA885}"/>
              </a:ext>
            </a:extLst>
          </p:cNvPr>
          <p:cNvSpPr/>
          <p:nvPr/>
        </p:nvSpPr>
        <p:spPr>
          <a:xfrm>
            <a:off x="9607380" y="6305616"/>
            <a:ext cx="1665452" cy="4114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</a:rPr>
              <a:t>Explicación de permisos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1E0B95A-862F-ED0C-EAB9-7C34A2440262}"/>
              </a:ext>
            </a:extLst>
          </p:cNvPr>
          <p:cNvSpPr/>
          <p:nvPr/>
        </p:nvSpPr>
        <p:spPr>
          <a:xfrm>
            <a:off x="110801" y="3965867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5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06-10 al 17-10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CDC481FF-2B55-C110-98B3-4F60C1101818}"/>
              </a:ext>
            </a:extLst>
          </p:cNvPr>
          <p:cNvSpPr/>
          <p:nvPr/>
        </p:nvSpPr>
        <p:spPr>
          <a:xfrm>
            <a:off x="2949720" y="3972656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6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20-10 al 31-10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9A4F8757-8C1D-E854-8EEA-EF1BB91DA7D4}"/>
              </a:ext>
            </a:extLst>
          </p:cNvPr>
          <p:cNvSpPr/>
          <p:nvPr/>
        </p:nvSpPr>
        <p:spPr>
          <a:xfrm>
            <a:off x="6187234" y="3983643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7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03-11 al 14-11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1C25856F-9C10-4E62-1E6B-2D6A3B3899FD}"/>
              </a:ext>
            </a:extLst>
          </p:cNvPr>
          <p:cNvSpPr/>
          <p:nvPr/>
        </p:nvSpPr>
        <p:spPr>
          <a:xfrm>
            <a:off x="9333513" y="3986035"/>
            <a:ext cx="2083733" cy="8925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Sprint 8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03-11 al 14-11</a:t>
            </a:r>
          </a:p>
        </p:txBody>
      </p:sp>
    </p:spTree>
    <p:extLst>
      <p:ext uri="{BB962C8B-B14F-4D97-AF65-F5344CB8AC3E}">
        <p14:creationId xmlns:p14="http://schemas.microsoft.com/office/powerpoint/2010/main" val="158638341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155479" y="3114856"/>
            <a:ext cx="71122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7982454-E8E2-B517-9C3D-33B3AD178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17" y="294474"/>
            <a:ext cx="11679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3163173" y="281926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535" y="160918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19A5C3A9-2B4E-BC79-5976-06BDFED2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736"/>
            <a:ext cx="5865653" cy="682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WayfindCL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FFE4F146-26DA-B788-D37A-E6D106C09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883" y="206933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ED921ED-AC0C-744F-2A5E-7C43DE98F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187" y="4533290"/>
            <a:ext cx="2305050" cy="19907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C2D76C3-14B7-C897-BEA1-98C9B71B4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81" y="2317920"/>
            <a:ext cx="2600325" cy="1762125"/>
          </a:xfrm>
          <a:prstGeom prst="rect">
            <a:avLst/>
          </a:prstGeom>
        </p:spPr>
      </p:pic>
      <p:pic>
        <p:nvPicPr>
          <p:cNvPr id="5" name="Picture 2" descr="Flutter · GitHub">
            <a:extLst>
              <a:ext uri="{FF2B5EF4-FFF2-40B4-BE49-F238E27FC236}">
                <a16:creationId xmlns:a16="http://schemas.microsoft.com/office/drawing/2014/main" id="{71E38AC6-EA36-42C6-91A3-A16FAFE5B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88" y="4461852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2 weeks with Figma: A review from a developer">
            <a:extLst>
              <a:ext uri="{FF2B5EF4-FFF2-40B4-BE49-F238E27FC236}">
                <a16:creationId xmlns:a16="http://schemas.microsoft.com/office/drawing/2014/main" id="{13162668-14D3-9581-F93C-381306F89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328" y="23574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Getting Started with Go: Your First 'Hello, World!' | Medium">
            <a:extLst>
              <a:ext uri="{FF2B5EF4-FFF2-40B4-BE49-F238E27FC236}">
                <a16:creationId xmlns:a16="http://schemas.microsoft.com/office/drawing/2014/main" id="{98384E7C-EF51-25E9-24EF-0F90A8A3E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962" y="2550344"/>
            <a:ext cx="28765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GraphHopper · GitHub">
            <a:extLst>
              <a:ext uri="{FF2B5EF4-FFF2-40B4-BE49-F238E27FC236}">
                <a16:creationId xmlns:a16="http://schemas.microsoft.com/office/drawing/2014/main" id="{AA7B17AC-F356-1434-5C4B-6D0AC6F82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765" y="4390415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outing API: Using Path Details - GraphHopper Directions API">
            <a:extLst>
              <a:ext uri="{FF2B5EF4-FFF2-40B4-BE49-F238E27FC236}">
                <a16:creationId xmlns:a16="http://schemas.microsoft.com/office/drawing/2014/main" id="{56BE135A-DED8-D1E6-6152-37B5A235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449" y="4742816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-280109" y="0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pic>
        <p:nvPicPr>
          <p:cNvPr id="2050" name="Picture 2" descr="Ilustración de Bus Con Ubicación De Navegación Mapa Pin Icono Vector  Ilustración y más Vectores Libres de Derechos de Autobús - iStock">
            <a:extLst>
              <a:ext uri="{FF2B5EF4-FFF2-40B4-BE49-F238E27FC236}">
                <a16:creationId xmlns:a16="http://schemas.microsoft.com/office/drawing/2014/main" id="{0CD0DA3F-68C4-3BD2-C989-92DF7F93B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270" y="3166338"/>
            <a:ext cx="2117460" cy="169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BAC9376-312A-7823-BBE3-0A4BE1F176F6}"/>
              </a:ext>
            </a:extLst>
          </p:cNvPr>
          <p:cNvSpPr txBox="1"/>
          <p:nvPr/>
        </p:nvSpPr>
        <p:spPr>
          <a:xfrm>
            <a:off x="4851027" y="4878883"/>
            <a:ext cx="26154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Logramos una app GPS accesible para personas no videntes que funciona en tiempo real en Santiago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277E51-A5BC-E55D-C2E6-91603151C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76" y="911820"/>
            <a:ext cx="1539176" cy="107834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895270F-94FF-0BED-3BEB-41151587DB04}"/>
              </a:ext>
            </a:extLst>
          </p:cNvPr>
          <p:cNvSpPr txBox="1"/>
          <p:nvPr/>
        </p:nvSpPr>
        <p:spPr>
          <a:xfrm>
            <a:off x="394448" y="2132544"/>
            <a:ext cx="1918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Arquitectura en AWS permitió alta disponibilidad, escalabilidad y tiempos de respuesta rápidos.</a:t>
            </a:r>
            <a:endParaRPr lang="es-C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A768388-375B-40F9-7EC6-510DB156A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399" y="889510"/>
            <a:ext cx="1224912" cy="127959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15841B0-B42F-8D31-B7DE-C73C1EA25BBB}"/>
              </a:ext>
            </a:extLst>
          </p:cNvPr>
          <p:cNvSpPr txBox="1"/>
          <p:nvPr/>
        </p:nvSpPr>
        <p:spPr>
          <a:xfrm>
            <a:off x="9448801" y="2289175"/>
            <a:ext cx="1918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Integración con </a:t>
            </a:r>
            <a:r>
              <a:rPr lang="es-ES" dirty="0" err="1"/>
              <a:t>OpenAI</a:t>
            </a:r>
            <a:r>
              <a:rPr lang="es-ES" dirty="0"/>
              <a:t> entrega instrucciones por voz claras y personalizadas al usuario.</a:t>
            </a:r>
            <a:endParaRPr lang="es-CL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861534B-9516-B88A-BCB8-FC9BF8C19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142" y="1742251"/>
            <a:ext cx="1238319" cy="127959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7C8DB21-ABDE-7E5D-5666-EA9E7BB9784B}"/>
              </a:ext>
            </a:extLst>
          </p:cNvPr>
          <p:cNvSpPr txBox="1"/>
          <p:nvPr/>
        </p:nvSpPr>
        <p:spPr>
          <a:xfrm>
            <a:off x="2931012" y="3429000"/>
            <a:ext cx="1918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El sistema mantiene datos seguros y optimizados mediante RDS, Redis y roles IAM.</a:t>
            </a:r>
            <a:endParaRPr lang="es-CL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6E394B4-2FA5-16BC-996A-D3E880A72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2177" y="1597538"/>
            <a:ext cx="1539176" cy="156902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D381A61-7B68-7EC3-8789-1530670A8D00}"/>
              </a:ext>
            </a:extLst>
          </p:cNvPr>
          <p:cNvSpPr txBox="1"/>
          <p:nvPr/>
        </p:nvSpPr>
        <p:spPr>
          <a:xfrm>
            <a:off x="7248636" y="3384665"/>
            <a:ext cx="2106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La solución completa es estable, económica y lista para expandirse a nuevas regiones.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5838" y="0"/>
            <a:ext cx="85164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pic>
        <p:nvPicPr>
          <p:cNvPr id="3074" name="Picture 2" descr="Icono de Obstáculo Special Lineal | Freepik">
            <a:extLst>
              <a:ext uri="{FF2B5EF4-FFF2-40B4-BE49-F238E27FC236}">
                <a16:creationId xmlns:a16="http://schemas.microsoft.com/office/drawing/2014/main" id="{9B586CF5-35D9-9453-C60A-2E2D23667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324" y="1446550"/>
            <a:ext cx="2096804" cy="20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xperiencia - Iconos gratis de negocios y finanzas">
            <a:extLst>
              <a:ext uri="{FF2B5EF4-FFF2-40B4-BE49-F238E27FC236}">
                <a16:creationId xmlns:a16="http://schemas.microsoft.com/office/drawing/2014/main" id="{A815B81B-C1BE-7A68-4526-DAF30162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624" y="3872753"/>
            <a:ext cx="2024662" cy="202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0D88B06-DFD4-ED1F-C528-F55D3E6C95C5}"/>
              </a:ext>
            </a:extLst>
          </p:cNvPr>
          <p:cNvSpPr txBox="1"/>
          <p:nvPr/>
        </p:nvSpPr>
        <p:spPr>
          <a:xfrm>
            <a:off x="466165" y="2029337"/>
            <a:ext cx="72793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1. Integración de múltiples </a:t>
            </a:r>
            <a:r>
              <a:rPr lang="es-ES" b="1" dirty="0" err="1"/>
              <a:t>APIs</a:t>
            </a:r>
            <a:r>
              <a:rPr lang="es-ES" b="1" dirty="0"/>
              <a:t> externas</a:t>
            </a:r>
          </a:p>
          <a:p>
            <a:r>
              <a:rPr lang="es-ES" dirty="0"/>
              <a:t>Dificultad para coordinar datos de Google </a:t>
            </a:r>
            <a:r>
              <a:rPr lang="es-ES" dirty="0" err="1"/>
              <a:t>Maps</a:t>
            </a:r>
            <a:r>
              <a:rPr lang="es-ES" dirty="0"/>
              <a:t>, DTPM y </a:t>
            </a:r>
            <a:r>
              <a:rPr lang="es-ES" dirty="0" err="1"/>
              <a:t>OpenAI</a:t>
            </a:r>
            <a:r>
              <a:rPr lang="es-ES" dirty="0"/>
              <a:t>, ya que cada API tiene formatos, tiempos de respuesta y limitaciones distintas.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2. Manejo de geolocalización en tiempo real</a:t>
            </a:r>
          </a:p>
          <a:p>
            <a:r>
              <a:rPr lang="es-ES" dirty="0"/>
              <a:t>Optimizar el rastreo del usuario, rutas y tiempos de buses sin generar consumo excesivo de datos, batería o llamadas innecesarias al </a:t>
            </a:r>
            <a:r>
              <a:rPr lang="es-ES" dirty="0" err="1"/>
              <a:t>backend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3. Configuración de la arquitectura en AWS</a:t>
            </a:r>
          </a:p>
          <a:p>
            <a:r>
              <a:rPr lang="es-ES" dirty="0"/>
              <a:t>Desafíos iniciales para orquestar ECS, RDS, S3, Redis e IAM de forma segura, económica y manteniendo la comunicación correcta entre los servicios.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868</Words>
  <Application>Microsoft Office PowerPoint</Application>
  <PresentationFormat>Panorámica</PresentationFormat>
  <Paragraphs>117</Paragraphs>
  <Slides>14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Agrandir Heavy Italics</vt:lpstr>
      <vt:lpstr>Agrandir Italics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admin</cp:lastModifiedBy>
  <cp:revision>12</cp:revision>
  <dcterms:created xsi:type="dcterms:W3CDTF">2023-10-28T21:12:11Z</dcterms:created>
  <dcterms:modified xsi:type="dcterms:W3CDTF">2025-11-22T06:31:40Z</dcterms:modified>
</cp:coreProperties>
</file>