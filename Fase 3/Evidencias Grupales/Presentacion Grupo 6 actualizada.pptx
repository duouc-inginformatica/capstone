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71" r:id="rId8"/>
    <p:sldId id="263" r:id="rId9"/>
    <p:sldId id="269" r:id="rId10"/>
    <p:sldId id="270" r:id="rId11"/>
    <p:sldId id="265" r:id="rId12"/>
    <p:sldId id="267" r:id="rId13"/>
    <p:sldId id="268" r:id="rId14"/>
    <p:sldId id="266" r:id="rId1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2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0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5140C-C326-4DAA-A267-498AD5117D68}" type="doc">
      <dgm:prSet loTypeId="urn:microsoft.com/office/officeart/2005/8/layout/vList4" loCatId="picture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s-CL"/>
        </a:p>
      </dgm:t>
    </dgm:pt>
    <dgm:pt modelId="{78BFB295-8F5D-4286-B72B-79142F8F0E13}">
      <dgm:prSet phldrT="[Texto]"/>
      <dgm:spPr/>
      <dgm:t>
        <a:bodyPr/>
        <a:lstStyle/>
        <a:p>
          <a:r>
            <a:rPr lang="es-CL" dirty="0">
              <a:solidFill>
                <a:schemeClr val="bg1"/>
              </a:solidFill>
            </a:rPr>
            <a:t>Sebastián Muñoz</a:t>
          </a:r>
        </a:p>
      </dgm:t>
    </dgm:pt>
    <dgm:pt modelId="{F1885FAB-61EC-4F80-98D0-72360031AF9F}" type="parTrans" cxnId="{2AD07198-D472-4B98-B6D5-5A730374E9A2}">
      <dgm:prSet/>
      <dgm:spPr/>
      <dgm:t>
        <a:bodyPr/>
        <a:lstStyle/>
        <a:p>
          <a:endParaRPr lang="es-CL"/>
        </a:p>
      </dgm:t>
    </dgm:pt>
    <dgm:pt modelId="{E88D0928-51D4-4670-8963-60ABBB193E13}" type="sibTrans" cxnId="{2AD07198-D472-4B98-B6D5-5A730374E9A2}">
      <dgm:prSet/>
      <dgm:spPr/>
      <dgm:t>
        <a:bodyPr/>
        <a:lstStyle/>
        <a:p>
          <a:endParaRPr lang="es-CL"/>
        </a:p>
      </dgm:t>
    </dgm:pt>
    <dgm:pt modelId="{D868444B-AE34-4422-A6A5-1F7D392D0C20}">
      <dgm:prSet phldrT="[Texto]"/>
      <dgm:spPr/>
      <dgm:t>
        <a:bodyPr/>
        <a:lstStyle/>
        <a:p>
          <a:r>
            <a:rPr lang="en-US" i="1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Scrum Master</a:t>
          </a:r>
          <a:endParaRPr lang="es-CL" dirty="0">
            <a:solidFill>
              <a:schemeClr val="bg1"/>
            </a:solidFill>
          </a:endParaRPr>
        </a:p>
      </dgm:t>
    </dgm:pt>
    <dgm:pt modelId="{7DB88D83-6C3A-48C1-8CAD-0D11C3BEC35C}" type="parTrans" cxnId="{484B8A37-0122-4FF5-93D2-4A15DF521A17}">
      <dgm:prSet/>
      <dgm:spPr/>
      <dgm:t>
        <a:bodyPr/>
        <a:lstStyle/>
        <a:p>
          <a:endParaRPr lang="es-CL"/>
        </a:p>
      </dgm:t>
    </dgm:pt>
    <dgm:pt modelId="{74B9B1A5-94EB-40A9-BFF2-678501068FB8}" type="sibTrans" cxnId="{484B8A37-0122-4FF5-93D2-4A15DF521A17}">
      <dgm:prSet/>
      <dgm:spPr/>
      <dgm:t>
        <a:bodyPr/>
        <a:lstStyle/>
        <a:p>
          <a:endParaRPr lang="es-CL"/>
        </a:p>
      </dgm:t>
    </dgm:pt>
    <dgm:pt modelId="{02A34BC0-F8BA-4A89-87A4-4F20079DFD06}">
      <dgm:prSet phldrT="[Texto]"/>
      <dgm:spPr/>
      <dgm:t>
        <a:bodyPr/>
        <a:lstStyle/>
        <a:p>
          <a:r>
            <a:rPr lang="es-CL" dirty="0">
              <a:solidFill>
                <a:schemeClr val="bg1"/>
              </a:solidFill>
            </a:rPr>
            <a:t>Roberto Zurita</a:t>
          </a:r>
        </a:p>
      </dgm:t>
    </dgm:pt>
    <dgm:pt modelId="{9ADB496F-2DB6-4F16-8C91-2EB9CDF5F2F2}" type="parTrans" cxnId="{0E2AE979-A66C-4CEC-BFF4-5B28BB7CD9EA}">
      <dgm:prSet/>
      <dgm:spPr/>
      <dgm:t>
        <a:bodyPr/>
        <a:lstStyle/>
        <a:p>
          <a:endParaRPr lang="es-CL"/>
        </a:p>
      </dgm:t>
    </dgm:pt>
    <dgm:pt modelId="{44AB630E-CD8B-4223-9F51-5EEE4E054B0A}" type="sibTrans" cxnId="{0E2AE979-A66C-4CEC-BFF4-5B28BB7CD9EA}">
      <dgm:prSet/>
      <dgm:spPr/>
      <dgm:t>
        <a:bodyPr/>
        <a:lstStyle/>
        <a:p>
          <a:endParaRPr lang="es-CL"/>
        </a:p>
      </dgm:t>
    </dgm:pt>
    <dgm:pt modelId="{99FF0D0F-282A-4030-9AF5-3B7621881539}">
      <dgm:prSet phldrT="[Texto]"/>
      <dgm:spPr/>
      <dgm:t>
        <a:bodyPr/>
        <a:lstStyle/>
        <a:p>
          <a:r>
            <a:rPr lang="es-CL" dirty="0">
              <a:solidFill>
                <a:schemeClr val="bg1"/>
              </a:solidFill>
            </a:rPr>
            <a:t>Samuel Jiménez</a:t>
          </a:r>
        </a:p>
      </dgm:t>
    </dgm:pt>
    <dgm:pt modelId="{A86F315C-C500-49D7-B443-1D58BD48589A}" type="parTrans" cxnId="{4FE7AF63-70AC-4ED4-8BFB-DCB2408F3318}">
      <dgm:prSet/>
      <dgm:spPr/>
      <dgm:t>
        <a:bodyPr/>
        <a:lstStyle/>
        <a:p>
          <a:endParaRPr lang="es-CL"/>
        </a:p>
      </dgm:t>
    </dgm:pt>
    <dgm:pt modelId="{1CCC8D2D-CD28-4814-B055-28ABD65CA276}" type="sibTrans" cxnId="{4FE7AF63-70AC-4ED4-8BFB-DCB2408F3318}">
      <dgm:prSet/>
      <dgm:spPr/>
      <dgm:t>
        <a:bodyPr/>
        <a:lstStyle/>
        <a:p>
          <a:endParaRPr lang="es-CL"/>
        </a:p>
      </dgm:t>
    </dgm:pt>
    <dgm:pt modelId="{2E221207-005F-49CB-81E1-6D036D64322B}">
      <dgm:prSet phldrT="[Texto]"/>
      <dgm:spPr/>
      <dgm:t>
        <a:bodyPr/>
        <a:lstStyle/>
        <a:p>
          <a:r>
            <a:rPr lang="en-US" i="1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Eliminar</a:t>
          </a:r>
          <a:r>
            <a:rPr lang="en-US" i="1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</a:t>
          </a:r>
          <a:r>
            <a:rPr lang="en-US" i="1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Bloqueantes</a:t>
          </a:r>
          <a:r>
            <a:rPr lang="en-US" i="1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- </a:t>
          </a:r>
          <a:r>
            <a:rPr lang="en-US" i="1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diseñar</a:t>
          </a:r>
          <a:r>
            <a:rPr lang="en-US" i="1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</a:t>
          </a:r>
          <a:r>
            <a:rPr lang="en-US" i="1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Arquitectura</a:t>
          </a:r>
          <a:endParaRPr lang="es-CL" dirty="0">
            <a:solidFill>
              <a:schemeClr val="bg1"/>
            </a:solidFill>
          </a:endParaRPr>
        </a:p>
      </dgm:t>
    </dgm:pt>
    <dgm:pt modelId="{3728DB5E-E904-481D-A1E5-49CF4AFFC0D3}" type="sibTrans" cxnId="{1C3272C9-C630-4D60-B76B-138907BB4D41}">
      <dgm:prSet/>
      <dgm:spPr/>
      <dgm:t>
        <a:bodyPr/>
        <a:lstStyle/>
        <a:p>
          <a:endParaRPr lang="es-CL"/>
        </a:p>
      </dgm:t>
    </dgm:pt>
    <dgm:pt modelId="{B200B6AA-AA2A-4CB8-80FF-4BB54938E8A5}" type="parTrans" cxnId="{1C3272C9-C630-4D60-B76B-138907BB4D41}">
      <dgm:prSet/>
      <dgm:spPr/>
      <dgm:t>
        <a:bodyPr/>
        <a:lstStyle/>
        <a:p>
          <a:endParaRPr lang="es-CL"/>
        </a:p>
      </dgm:t>
    </dgm:pt>
    <dgm:pt modelId="{A2BD12B5-7AB5-4859-B57E-1E77C0ED35DF}">
      <dgm:prSet phldrT="[Texto]"/>
      <dgm:spPr/>
      <dgm:t>
        <a:bodyPr/>
        <a:lstStyle/>
        <a:p>
          <a:r>
            <a:rPr lang="en-US" i="1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Product Owner</a:t>
          </a:r>
          <a:endParaRPr lang="es-CL" dirty="0">
            <a:solidFill>
              <a:schemeClr val="bg1"/>
            </a:solidFill>
          </a:endParaRPr>
        </a:p>
      </dgm:t>
    </dgm:pt>
    <dgm:pt modelId="{35EEEEB1-B116-40C6-8142-8F938AF38B0B}" type="sibTrans" cxnId="{D5771F2D-99A4-4884-A896-FA1E2DEFDD88}">
      <dgm:prSet/>
      <dgm:spPr/>
      <dgm:t>
        <a:bodyPr/>
        <a:lstStyle/>
        <a:p>
          <a:endParaRPr lang="es-CL"/>
        </a:p>
      </dgm:t>
    </dgm:pt>
    <dgm:pt modelId="{AC7F7F07-A811-4CCD-BBFE-DAA4D1F5EE40}" type="parTrans" cxnId="{D5771F2D-99A4-4884-A896-FA1E2DEFDD88}">
      <dgm:prSet/>
      <dgm:spPr/>
      <dgm:t>
        <a:bodyPr/>
        <a:lstStyle/>
        <a:p>
          <a:endParaRPr lang="es-CL"/>
        </a:p>
      </dgm:t>
    </dgm:pt>
    <dgm:pt modelId="{EA3B2395-55AF-495E-9D6B-329D2886612F}">
      <dgm:prSet phldrT="[Texto]"/>
      <dgm:spPr/>
      <dgm:t>
        <a:bodyPr/>
        <a:lstStyle/>
        <a:p>
          <a:r>
            <a:rPr lang="en-US" i="1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Scrum Team</a:t>
          </a:r>
          <a:endParaRPr lang="es-CL" dirty="0">
            <a:solidFill>
              <a:schemeClr val="bg1"/>
            </a:solidFill>
          </a:endParaRPr>
        </a:p>
      </dgm:t>
    </dgm:pt>
    <dgm:pt modelId="{11A4E056-7834-4F82-8A9C-B8EA31F159E3}" type="sibTrans" cxnId="{778F2DBC-81F3-476D-BD99-784E4F7153C8}">
      <dgm:prSet/>
      <dgm:spPr/>
      <dgm:t>
        <a:bodyPr/>
        <a:lstStyle/>
        <a:p>
          <a:endParaRPr lang="es-CL"/>
        </a:p>
      </dgm:t>
    </dgm:pt>
    <dgm:pt modelId="{01DA10B6-3F7A-4C8A-AACD-F605EE6CCF20}" type="parTrans" cxnId="{778F2DBC-81F3-476D-BD99-784E4F7153C8}">
      <dgm:prSet/>
      <dgm:spPr/>
      <dgm:t>
        <a:bodyPr/>
        <a:lstStyle/>
        <a:p>
          <a:endParaRPr lang="es-CL"/>
        </a:p>
      </dgm:t>
    </dgm:pt>
    <dgm:pt modelId="{FA91A3A3-78C0-4260-89D6-DB662292B897}">
      <dgm:prSet/>
      <dgm:spPr/>
      <dgm:t>
        <a:bodyPr/>
        <a:lstStyle/>
        <a:p>
          <a:r>
            <a:rPr lang="en-US" i="1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Construir</a:t>
          </a:r>
          <a:r>
            <a:rPr lang="en-US" i="1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</a:t>
          </a:r>
          <a:r>
            <a:rPr lang="en-US" i="1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funcionalidades</a:t>
          </a:r>
          <a:r>
            <a:rPr lang="en-US" i="1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- </a:t>
          </a:r>
          <a:r>
            <a:rPr lang="en-US" i="1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asegurar</a:t>
          </a:r>
          <a:r>
            <a:rPr lang="en-US" i="1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</a:t>
          </a:r>
          <a:r>
            <a:rPr lang="en-US" i="1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calidad</a:t>
          </a:r>
          <a:endParaRPr lang="en-US" i="1" dirty="0">
            <a:solidFill>
              <a:schemeClr val="bg1"/>
            </a:solidFill>
            <a:latin typeface="Agrandir Italics"/>
            <a:ea typeface="Agrandir Italics"/>
            <a:cs typeface="Agrandir Italics"/>
            <a:sym typeface="Agrandir Italics"/>
          </a:endParaRPr>
        </a:p>
      </dgm:t>
    </dgm:pt>
    <dgm:pt modelId="{27B0E548-5806-4DE4-8F79-49FA3C998567}" type="parTrans" cxnId="{CACAC7E6-AFC8-4F80-98CE-9805C44052E9}">
      <dgm:prSet/>
      <dgm:spPr/>
      <dgm:t>
        <a:bodyPr/>
        <a:lstStyle/>
        <a:p>
          <a:endParaRPr lang="es-CL"/>
        </a:p>
      </dgm:t>
    </dgm:pt>
    <dgm:pt modelId="{02186386-4B95-4F73-9C1D-863DB6D2BEB3}" type="sibTrans" cxnId="{CACAC7E6-AFC8-4F80-98CE-9805C44052E9}">
      <dgm:prSet/>
      <dgm:spPr/>
      <dgm:t>
        <a:bodyPr/>
        <a:lstStyle/>
        <a:p>
          <a:endParaRPr lang="es-CL"/>
        </a:p>
      </dgm:t>
    </dgm:pt>
    <dgm:pt modelId="{8CE55C66-EC9D-4982-8942-EACDC1A7720C}">
      <dgm:prSet/>
      <dgm:spPr/>
      <dgm:t>
        <a:bodyPr/>
        <a:lstStyle/>
        <a:p>
          <a:r>
            <a:rPr lang="en-US" i="1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Definir</a:t>
          </a:r>
          <a:r>
            <a:rPr lang="en-US" i="1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</a:t>
          </a:r>
          <a:r>
            <a:rPr lang="en-US" i="1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Prioridad</a:t>
          </a:r>
          <a:r>
            <a:rPr lang="en-US" i="1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del Backlog - </a:t>
          </a:r>
          <a:r>
            <a:rPr lang="en-US" i="1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Comunicar</a:t>
          </a:r>
          <a:r>
            <a:rPr lang="en-US" i="1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la </a:t>
          </a:r>
          <a:r>
            <a:rPr lang="en-US" i="1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visión</a:t>
          </a:r>
          <a:r>
            <a:rPr lang="en-US" i="1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del </a:t>
          </a:r>
          <a:r>
            <a:rPr lang="en-US" i="1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producto</a:t>
          </a:r>
          <a:endParaRPr lang="en-US" i="1" dirty="0">
            <a:solidFill>
              <a:schemeClr val="bg1"/>
            </a:solidFill>
            <a:latin typeface="Agrandir Italics"/>
            <a:ea typeface="Agrandir Italics"/>
            <a:cs typeface="Agrandir Italics"/>
            <a:sym typeface="Agrandir Italics"/>
          </a:endParaRPr>
        </a:p>
      </dgm:t>
    </dgm:pt>
    <dgm:pt modelId="{3CB8BAAF-8D60-422B-8231-42BEFE448B7D}" type="parTrans" cxnId="{EDEFE876-0A3D-4C95-A1E1-A4137461188E}">
      <dgm:prSet/>
      <dgm:spPr/>
      <dgm:t>
        <a:bodyPr/>
        <a:lstStyle/>
        <a:p>
          <a:endParaRPr lang="es-CL"/>
        </a:p>
      </dgm:t>
    </dgm:pt>
    <dgm:pt modelId="{C94E8E56-6638-4960-BEDB-4899C2CC1052}" type="sibTrans" cxnId="{EDEFE876-0A3D-4C95-A1E1-A4137461188E}">
      <dgm:prSet/>
      <dgm:spPr/>
      <dgm:t>
        <a:bodyPr/>
        <a:lstStyle/>
        <a:p>
          <a:endParaRPr lang="es-CL"/>
        </a:p>
      </dgm:t>
    </dgm:pt>
    <dgm:pt modelId="{6E1E561E-88C1-49C6-A3F7-DE4B9AD43273}" type="pres">
      <dgm:prSet presAssocID="{BE45140C-C326-4DAA-A267-498AD5117D68}" presName="linear" presStyleCnt="0">
        <dgm:presLayoutVars>
          <dgm:dir/>
          <dgm:resizeHandles val="exact"/>
        </dgm:presLayoutVars>
      </dgm:prSet>
      <dgm:spPr/>
    </dgm:pt>
    <dgm:pt modelId="{F70979D0-5925-4EC3-AD84-986E0EC7B0D8}" type="pres">
      <dgm:prSet presAssocID="{78BFB295-8F5D-4286-B72B-79142F8F0E13}" presName="comp" presStyleCnt="0"/>
      <dgm:spPr/>
    </dgm:pt>
    <dgm:pt modelId="{54FC4CB6-0791-48D3-B2C5-2E99B8AFCFF7}" type="pres">
      <dgm:prSet presAssocID="{78BFB295-8F5D-4286-B72B-79142F8F0E13}" presName="box" presStyleLbl="node1" presStyleIdx="0" presStyleCnt="3" custLinFactNeighborX="5318" custLinFactNeighborY="-12417"/>
      <dgm:spPr/>
    </dgm:pt>
    <dgm:pt modelId="{9A7E2690-DE9C-4572-9BE5-B8C9A3B8BBB3}" type="pres">
      <dgm:prSet presAssocID="{78BFB295-8F5D-4286-B72B-79142F8F0E13}" presName="img" presStyleLbl="fgImgPlace1" presStyleIdx="0" presStyleCnt="3"/>
      <dgm:spPr/>
    </dgm:pt>
    <dgm:pt modelId="{52D125D2-FCA7-4A2D-AB39-B6BD54F251F2}" type="pres">
      <dgm:prSet presAssocID="{78BFB295-8F5D-4286-B72B-79142F8F0E13}" presName="text" presStyleLbl="node1" presStyleIdx="0" presStyleCnt="3">
        <dgm:presLayoutVars>
          <dgm:bulletEnabled val="1"/>
        </dgm:presLayoutVars>
      </dgm:prSet>
      <dgm:spPr/>
    </dgm:pt>
    <dgm:pt modelId="{E95CA29D-745B-40BA-93B6-BB607C99A2CE}" type="pres">
      <dgm:prSet presAssocID="{E88D0928-51D4-4670-8963-60ABBB193E13}" presName="spacer" presStyleCnt="0"/>
      <dgm:spPr/>
    </dgm:pt>
    <dgm:pt modelId="{41A67AC8-1DD7-4AB7-96A3-87B24035E3FA}" type="pres">
      <dgm:prSet presAssocID="{02A34BC0-F8BA-4A89-87A4-4F20079DFD06}" presName="comp" presStyleCnt="0"/>
      <dgm:spPr/>
    </dgm:pt>
    <dgm:pt modelId="{39AFE128-ACF6-44CA-B18B-64F5782CF210}" type="pres">
      <dgm:prSet presAssocID="{02A34BC0-F8BA-4A89-87A4-4F20079DFD06}" presName="box" presStyleLbl="node1" presStyleIdx="1" presStyleCnt="3" custLinFactNeighborX="-464" custLinFactNeighborY="634"/>
      <dgm:spPr/>
    </dgm:pt>
    <dgm:pt modelId="{3F97C059-D720-4D48-953F-B84D04D0BF79}" type="pres">
      <dgm:prSet presAssocID="{02A34BC0-F8BA-4A89-87A4-4F20079DFD06}" presName="img" presStyleLbl="fgImgPlace1" presStyleIdx="1" presStyleCnt="3"/>
      <dgm:spPr/>
    </dgm:pt>
    <dgm:pt modelId="{CFFDF23F-D296-4CDF-8EE4-8A672559E207}" type="pres">
      <dgm:prSet presAssocID="{02A34BC0-F8BA-4A89-87A4-4F20079DFD06}" presName="text" presStyleLbl="node1" presStyleIdx="1" presStyleCnt="3">
        <dgm:presLayoutVars>
          <dgm:bulletEnabled val="1"/>
        </dgm:presLayoutVars>
      </dgm:prSet>
      <dgm:spPr/>
    </dgm:pt>
    <dgm:pt modelId="{40453781-DACE-4118-ADC4-2B966E9374E5}" type="pres">
      <dgm:prSet presAssocID="{44AB630E-CD8B-4223-9F51-5EEE4E054B0A}" presName="spacer" presStyleCnt="0"/>
      <dgm:spPr/>
    </dgm:pt>
    <dgm:pt modelId="{536722F8-2BA5-41A1-87DF-BBB1AF7DCA80}" type="pres">
      <dgm:prSet presAssocID="{99FF0D0F-282A-4030-9AF5-3B7621881539}" presName="comp" presStyleCnt="0"/>
      <dgm:spPr/>
    </dgm:pt>
    <dgm:pt modelId="{F36F4ED1-B414-46B8-A8C5-C0FB11F5CFBC}" type="pres">
      <dgm:prSet presAssocID="{99FF0D0F-282A-4030-9AF5-3B7621881539}" presName="box" presStyleLbl="node1" presStyleIdx="2" presStyleCnt="3"/>
      <dgm:spPr/>
    </dgm:pt>
    <dgm:pt modelId="{7C6A764B-C67C-494C-B90E-7B3C3DDE54A4}" type="pres">
      <dgm:prSet presAssocID="{99FF0D0F-282A-4030-9AF5-3B7621881539}" presName="img" presStyleLbl="fgImgPlace1" presStyleIdx="2" presStyleCnt="3"/>
      <dgm:spPr/>
    </dgm:pt>
    <dgm:pt modelId="{0E12AD21-08CC-4736-A269-DD5234F9D874}" type="pres">
      <dgm:prSet presAssocID="{99FF0D0F-282A-4030-9AF5-3B7621881539}" presName="text" presStyleLbl="node1" presStyleIdx="2" presStyleCnt="3">
        <dgm:presLayoutVars>
          <dgm:bulletEnabled val="1"/>
        </dgm:presLayoutVars>
      </dgm:prSet>
      <dgm:spPr/>
    </dgm:pt>
  </dgm:ptLst>
  <dgm:cxnLst>
    <dgm:cxn modelId="{399BD705-2380-48A3-9C48-1D49A5A32D61}" type="presOf" srcId="{2E221207-005F-49CB-81E1-6D036D64322B}" destId="{52D125D2-FCA7-4A2D-AB39-B6BD54F251F2}" srcOrd="1" destOrd="2" presId="urn:microsoft.com/office/officeart/2005/8/layout/vList4"/>
    <dgm:cxn modelId="{D2B94F0C-C779-4AC1-87E4-35116A3DED02}" type="presOf" srcId="{78BFB295-8F5D-4286-B72B-79142F8F0E13}" destId="{54FC4CB6-0791-48D3-B2C5-2E99B8AFCFF7}" srcOrd="0" destOrd="0" presId="urn:microsoft.com/office/officeart/2005/8/layout/vList4"/>
    <dgm:cxn modelId="{91DCDB24-7C46-44B8-A6A6-773D8225EC18}" type="presOf" srcId="{8CE55C66-EC9D-4982-8942-EACDC1A7720C}" destId="{0E12AD21-08CC-4736-A269-DD5234F9D874}" srcOrd="1" destOrd="2" presId="urn:microsoft.com/office/officeart/2005/8/layout/vList4"/>
    <dgm:cxn modelId="{D5771F2D-99A4-4884-A896-FA1E2DEFDD88}" srcId="{99FF0D0F-282A-4030-9AF5-3B7621881539}" destId="{A2BD12B5-7AB5-4859-B57E-1E77C0ED35DF}" srcOrd="0" destOrd="0" parTransId="{AC7F7F07-A811-4CCD-BBFE-DAA4D1F5EE40}" sibTransId="{35EEEEB1-B116-40C6-8142-8F938AF38B0B}"/>
    <dgm:cxn modelId="{3A21ED2D-BFFE-4942-BD04-AB5B9DC419E5}" type="presOf" srcId="{99FF0D0F-282A-4030-9AF5-3B7621881539}" destId="{F36F4ED1-B414-46B8-A8C5-C0FB11F5CFBC}" srcOrd="0" destOrd="0" presId="urn:microsoft.com/office/officeart/2005/8/layout/vList4"/>
    <dgm:cxn modelId="{A6E20436-8EF1-4FFF-9C29-AC69BF1D5C4A}" type="presOf" srcId="{02A34BC0-F8BA-4A89-87A4-4F20079DFD06}" destId="{39AFE128-ACF6-44CA-B18B-64F5782CF210}" srcOrd="0" destOrd="0" presId="urn:microsoft.com/office/officeart/2005/8/layout/vList4"/>
    <dgm:cxn modelId="{484B8A37-0122-4FF5-93D2-4A15DF521A17}" srcId="{78BFB295-8F5D-4286-B72B-79142F8F0E13}" destId="{D868444B-AE34-4422-A6A5-1F7D392D0C20}" srcOrd="0" destOrd="0" parTransId="{7DB88D83-6C3A-48C1-8CAD-0D11C3BEC35C}" sibTransId="{74B9B1A5-94EB-40A9-BFF2-678501068FB8}"/>
    <dgm:cxn modelId="{040FC75B-63D6-4205-A996-7A824AA266CE}" type="presOf" srcId="{A2BD12B5-7AB5-4859-B57E-1E77C0ED35DF}" destId="{0E12AD21-08CC-4736-A269-DD5234F9D874}" srcOrd="1" destOrd="1" presId="urn:microsoft.com/office/officeart/2005/8/layout/vList4"/>
    <dgm:cxn modelId="{7E8FC05E-FE02-4336-B1F8-3EAA05519A49}" type="presOf" srcId="{D868444B-AE34-4422-A6A5-1F7D392D0C20}" destId="{54FC4CB6-0791-48D3-B2C5-2E99B8AFCFF7}" srcOrd="0" destOrd="1" presId="urn:microsoft.com/office/officeart/2005/8/layout/vList4"/>
    <dgm:cxn modelId="{4FE7AF63-70AC-4ED4-8BFB-DCB2408F3318}" srcId="{BE45140C-C326-4DAA-A267-498AD5117D68}" destId="{99FF0D0F-282A-4030-9AF5-3B7621881539}" srcOrd="2" destOrd="0" parTransId="{A86F315C-C500-49D7-B443-1D58BD48589A}" sibTransId="{1CCC8D2D-CD28-4814-B055-28ABD65CA276}"/>
    <dgm:cxn modelId="{16E3926F-F4EC-482A-8988-40ED7DC39B82}" type="presOf" srcId="{FA91A3A3-78C0-4260-89D6-DB662292B897}" destId="{CFFDF23F-D296-4CDF-8EE4-8A672559E207}" srcOrd="1" destOrd="2" presId="urn:microsoft.com/office/officeart/2005/8/layout/vList4"/>
    <dgm:cxn modelId="{1B640B73-C868-4F67-965A-E5678365EB2B}" type="presOf" srcId="{8CE55C66-EC9D-4982-8942-EACDC1A7720C}" destId="{F36F4ED1-B414-46B8-A8C5-C0FB11F5CFBC}" srcOrd="0" destOrd="2" presId="urn:microsoft.com/office/officeart/2005/8/layout/vList4"/>
    <dgm:cxn modelId="{EDEFE876-0A3D-4C95-A1E1-A4137461188E}" srcId="{99FF0D0F-282A-4030-9AF5-3B7621881539}" destId="{8CE55C66-EC9D-4982-8942-EACDC1A7720C}" srcOrd="1" destOrd="0" parTransId="{3CB8BAAF-8D60-422B-8231-42BEFE448B7D}" sibTransId="{C94E8E56-6638-4960-BEDB-4899C2CC1052}"/>
    <dgm:cxn modelId="{0E2AE979-A66C-4CEC-BFF4-5B28BB7CD9EA}" srcId="{BE45140C-C326-4DAA-A267-498AD5117D68}" destId="{02A34BC0-F8BA-4A89-87A4-4F20079DFD06}" srcOrd="1" destOrd="0" parTransId="{9ADB496F-2DB6-4F16-8C91-2EB9CDF5F2F2}" sibTransId="{44AB630E-CD8B-4223-9F51-5EEE4E054B0A}"/>
    <dgm:cxn modelId="{228F538F-AC05-4969-9BA7-11C3CCE96657}" type="presOf" srcId="{FA91A3A3-78C0-4260-89D6-DB662292B897}" destId="{39AFE128-ACF6-44CA-B18B-64F5782CF210}" srcOrd="0" destOrd="2" presId="urn:microsoft.com/office/officeart/2005/8/layout/vList4"/>
    <dgm:cxn modelId="{2AD07198-D472-4B98-B6D5-5A730374E9A2}" srcId="{BE45140C-C326-4DAA-A267-498AD5117D68}" destId="{78BFB295-8F5D-4286-B72B-79142F8F0E13}" srcOrd="0" destOrd="0" parTransId="{F1885FAB-61EC-4F80-98D0-72360031AF9F}" sibTransId="{E88D0928-51D4-4670-8963-60ABBB193E13}"/>
    <dgm:cxn modelId="{FBEF4C9A-E5D4-462C-B35F-96C87426BEAB}" type="presOf" srcId="{A2BD12B5-7AB5-4859-B57E-1E77C0ED35DF}" destId="{F36F4ED1-B414-46B8-A8C5-C0FB11F5CFBC}" srcOrd="0" destOrd="1" presId="urn:microsoft.com/office/officeart/2005/8/layout/vList4"/>
    <dgm:cxn modelId="{690A389C-25C1-485B-88F9-437236A47744}" type="presOf" srcId="{BE45140C-C326-4DAA-A267-498AD5117D68}" destId="{6E1E561E-88C1-49C6-A3F7-DE4B9AD43273}" srcOrd="0" destOrd="0" presId="urn:microsoft.com/office/officeart/2005/8/layout/vList4"/>
    <dgm:cxn modelId="{ECFD91A4-F44F-4C84-8B25-37DA0B249A1F}" type="presOf" srcId="{78BFB295-8F5D-4286-B72B-79142F8F0E13}" destId="{52D125D2-FCA7-4A2D-AB39-B6BD54F251F2}" srcOrd="1" destOrd="0" presId="urn:microsoft.com/office/officeart/2005/8/layout/vList4"/>
    <dgm:cxn modelId="{67DE09B5-392E-4661-A7AE-A0572D63DA68}" type="presOf" srcId="{99FF0D0F-282A-4030-9AF5-3B7621881539}" destId="{0E12AD21-08CC-4736-A269-DD5234F9D874}" srcOrd="1" destOrd="0" presId="urn:microsoft.com/office/officeart/2005/8/layout/vList4"/>
    <dgm:cxn modelId="{778F2DBC-81F3-476D-BD99-784E4F7153C8}" srcId="{02A34BC0-F8BA-4A89-87A4-4F20079DFD06}" destId="{EA3B2395-55AF-495E-9D6B-329D2886612F}" srcOrd="0" destOrd="0" parTransId="{01DA10B6-3F7A-4C8A-AACD-F605EE6CCF20}" sibTransId="{11A4E056-7834-4F82-8A9C-B8EA31F159E3}"/>
    <dgm:cxn modelId="{FE5360C5-555C-42B2-9E63-16D2D46F21B1}" type="presOf" srcId="{D868444B-AE34-4422-A6A5-1F7D392D0C20}" destId="{52D125D2-FCA7-4A2D-AB39-B6BD54F251F2}" srcOrd="1" destOrd="1" presId="urn:microsoft.com/office/officeart/2005/8/layout/vList4"/>
    <dgm:cxn modelId="{1C3272C9-C630-4D60-B76B-138907BB4D41}" srcId="{78BFB295-8F5D-4286-B72B-79142F8F0E13}" destId="{2E221207-005F-49CB-81E1-6D036D64322B}" srcOrd="1" destOrd="0" parTransId="{B200B6AA-AA2A-4CB8-80FF-4BB54938E8A5}" sibTransId="{3728DB5E-E904-481D-A1E5-49CF4AFFC0D3}"/>
    <dgm:cxn modelId="{B0C181C9-77EB-4775-B9E6-C6CBDA60E6EB}" type="presOf" srcId="{EA3B2395-55AF-495E-9D6B-329D2886612F}" destId="{CFFDF23F-D296-4CDF-8EE4-8A672559E207}" srcOrd="1" destOrd="1" presId="urn:microsoft.com/office/officeart/2005/8/layout/vList4"/>
    <dgm:cxn modelId="{22A4C7D2-C14A-4622-8C4E-3FE51F50DCC3}" type="presOf" srcId="{02A34BC0-F8BA-4A89-87A4-4F20079DFD06}" destId="{CFFDF23F-D296-4CDF-8EE4-8A672559E207}" srcOrd="1" destOrd="0" presId="urn:microsoft.com/office/officeart/2005/8/layout/vList4"/>
    <dgm:cxn modelId="{A70C9FD5-2935-4C81-937A-B6C05F5E54BA}" type="presOf" srcId="{2E221207-005F-49CB-81E1-6D036D64322B}" destId="{54FC4CB6-0791-48D3-B2C5-2E99B8AFCFF7}" srcOrd="0" destOrd="2" presId="urn:microsoft.com/office/officeart/2005/8/layout/vList4"/>
    <dgm:cxn modelId="{CACAC7E6-AFC8-4F80-98CE-9805C44052E9}" srcId="{02A34BC0-F8BA-4A89-87A4-4F20079DFD06}" destId="{FA91A3A3-78C0-4260-89D6-DB662292B897}" srcOrd="1" destOrd="0" parTransId="{27B0E548-5806-4DE4-8F79-49FA3C998567}" sibTransId="{02186386-4B95-4F73-9C1D-863DB6D2BEB3}"/>
    <dgm:cxn modelId="{7ABE08FD-4ED4-44FB-BFBA-794B6C5FA813}" type="presOf" srcId="{EA3B2395-55AF-495E-9D6B-329D2886612F}" destId="{39AFE128-ACF6-44CA-B18B-64F5782CF210}" srcOrd="0" destOrd="1" presId="urn:microsoft.com/office/officeart/2005/8/layout/vList4"/>
    <dgm:cxn modelId="{DA463EE6-78DB-4E59-8099-EBA029F401B0}" type="presParOf" srcId="{6E1E561E-88C1-49C6-A3F7-DE4B9AD43273}" destId="{F70979D0-5925-4EC3-AD84-986E0EC7B0D8}" srcOrd="0" destOrd="0" presId="urn:microsoft.com/office/officeart/2005/8/layout/vList4"/>
    <dgm:cxn modelId="{2FE346D7-6685-4BD0-9465-988681234E35}" type="presParOf" srcId="{F70979D0-5925-4EC3-AD84-986E0EC7B0D8}" destId="{54FC4CB6-0791-48D3-B2C5-2E99B8AFCFF7}" srcOrd="0" destOrd="0" presId="urn:microsoft.com/office/officeart/2005/8/layout/vList4"/>
    <dgm:cxn modelId="{3671DC51-8308-4E14-B210-C8528BB18500}" type="presParOf" srcId="{F70979D0-5925-4EC3-AD84-986E0EC7B0D8}" destId="{9A7E2690-DE9C-4572-9BE5-B8C9A3B8BBB3}" srcOrd="1" destOrd="0" presId="urn:microsoft.com/office/officeart/2005/8/layout/vList4"/>
    <dgm:cxn modelId="{36512CCB-6AF4-4E79-94F2-3EAFE5E8BC48}" type="presParOf" srcId="{F70979D0-5925-4EC3-AD84-986E0EC7B0D8}" destId="{52D125D2-FCA7-4A2D-AB39-B6BD54F251F2}" srcOrd="2" destOrd="0" presId="urn:microsoft.com/office/officeart/2005/8/layout/vList4"/>
    <dgm:cxn modelId="{ECC56BF9-E938-422B-98CD-A358ACD6F8DC}" type="presParOf" srcId="{6E1E561E-88C1-49C6-A3F7-DE4B9AD43273}" destId="{E95CA29D-745B-40BA-93B6-BB607C99A2CE}" srcOrd="1" destOrd="0" presId="urn:microsoft.com/office/officeart/2005/8/layout/vList4"/>
    <dgm:cxn modelId="{158F6488-FF9D-4053-8FD1-E0DD5F22ECAD}" type="presParOf" srcId="{6E1E561E-88C1-49C6-A3F7-DE4B9AD43273}" destId="{41A67AC8-1DD7-4AB7-96A3-87B24035E3FA}" srcOrd="2" destOrd="0" presId="urn:microsoft.com/office/officeart/2005/8/layout/vList4"/>
    <dgm:cxn modelId="{236FF4A9-4957-4F7A-A24B-795FE34BEEFD}" type="presParOf" srcId="{41A67AC8-1DD7-4AB7-96A3-87B24035E3FA}" destId="{39AFE128-ACF6-44CA-B18B-64F5782CF210}" srcOrd="0" destOrd="0" presId="urn:microsoft.com/office/officeart/2005/8/layout/vList4"/>
    <dgm:cxn modelId="{5BD15FCC-0B87-4D85-98EC-9D897E4655EE}" type="presParOf" srcId="{41A67AC8-1DD7-4AB7-96A3-87B24035E3FA}" destId="{3F97C059-D720-4D48-953F-B84D04D0BF79}" srcOrd="1" destOrd="0" presId="urn:microsoft.com/office/officeart/2005/8/layout/vList4"/>
    <dgm:cxn modelId="{3156CEE4-28C8-4C16-85AC-EE6796DAD482}" type="presParOf" srcId="{41A67AC8-1DD7-4AB7-96A3-87B24035E3FA}" destId="{CFFDF23F-D296-4CDF-8EE4-8A672559E207}" srcOrd="2" destOrd="0" presId="urn:microsoft.com/office/officeart/2005/8/layout/vList4"/>
    <dgm:cxn modelId="{C9CD1524-D5D2-47DD-A731-469F83B73691}" type="presParOf" srcId="{6E1E561E-88C1-49C6-A3F7-DE4B9AD43273}" destId="{40453781-DACE-4118-ADC4-2B966E9374E5}" srcOrd="3" destOrd="0" presId="urn:microsoft.com/office/officeart/2005/8/layout/vList4"/>
    <dgm:cxn modelId="{D2619F68-F71E-4DB7-B3E4-C0C69EDAA7FE}" type="presParOf" srcId="{6E1E561E-88C1-49C6-A3F7-DE4B9AD43273}" destId="{536722F8-2BA5-41A1-87DF-BBB1AF7DCA80}" srcOrd="4" destOrd="0" presId="urn:microsoft.com/office/officeart/2005/8/layout/vList4"/>
    <dgm:cxn modelId="{AFABECF8-EB39-4A9E-BB52-4A457A2CDD0A}" type="presParOf" srcId="{536722F8-2BA5-41A1-87DF-BBB1AF7DCA80}" destId="{F36F4ED1-B414-46B8-A8C5-C0FB11F5CFBC}" srcOrd="0" destOrd="0" presId="urn:microsoft.com/office/officeart/2005/8/layout/vList4"/>
    <dgm:cxn modelId="{F3A74078-C1EC-4C6F-B1ED-565182E04087}" type="presParOf" srcId="{536722F8-2BA5-41A1-87DF-BBB1AF7DCA80}" destId="{7C6A764B-C67C-494C-B90E-7B3C3DDE54A4}" srcOrd="1" destOrd="0" presId="urn:microsoft.com/office/officeart/2005/8/layout/vList4"/>
    <dgm:cxn modelId="{1973AF99-46F9-4317-B911-25815C189087}" type="presParOf" srcId="{536722F8-2BA5-41A1-87DF-BBB1AF7DCA80}" destId="{0E12AD21-08CC-4736-A269-DD5234F9D874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4CB6-0791-48D3-B2C5-2E99B8AFCFF7}">
      <dsp:nvSpPr>
        <dsp:cNvPr id="0" name=""/>
        <dsp:cNvSpPr/>
      </dsp:nvSpPr>
      <dsp:spPr>
        <a:xfrm>
          <a:off x="0" y="0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kern="1200" dirty="0">
              <a:solidFill>
                <a:schemeClr val="bg1"/>
              </a:solidFill>
            </a:rPr>
            <a:t>Sebastián Muñoz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i="1" kern="1200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Scrum Master</a:t>
          </a:r>
          <a:endParaRPr lang="es-CL" sz="1700" kern="1200" dirty="0">
            <a:solidFill>
              <a:schemeClr val="bg1"/>
            </a:solidFill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i="1" kern="1200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Eliminar</a:t>
          </a:r>
          <a:r>
            <a:rPr lang="en-US" sz="1700" i="1" kern="1200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</a:t>
          </a:r>
          <a:r>
            <a:rPr lang="en-US" sz="1700" i="1" kern="1200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Bloqueantes</a:t>
          </a:r>
          <a:r>
            <a:rPr lang="en-US" sz="1700" i="1" kern="1200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- </a:t>
          </a:r>
          <a:r>
            <a:rPr lang="en-US" sz="1700" i="1" kern="1200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diseñar</a:t>
          </a:r>
          <a:r>
            <a:rPr lang="en-US" sz="1700" i="1" kern="1200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</a:t>
          </a:r>
          <a:r>
            <a:rPr lang="en-US" sz="1700" i="1" kern="1200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Arquitectura</a:t>
          </a:r>
          <a:endParaRPr lang="es-CL" sz="1700" kern="1200" dirty="0">
            <a:solidFill>
              <a:schemeClr val="bg1"/>
            </a:solidFill>
          </a:endParaRPr>
        </a:p>
      </dsp:txBody>
      <dsp:txXfrm>
        <a:off x="1662653" y="0"/>
        <a:ext cx="5970840" cy="1359548"/>
      </dsp:txXfrm>
    </dsp:sp>
    <dsp:sp modelId="{9A7E2690-DE9C-4572-9BE5-B8C9A3B8BBB3}">
      <dsp:nvSpPr>
        <dsp:cNvPr id="0" name=""/>
        <dsp:cNvSpPr/>
      </dsp:nvSpPr>
      <dsp:spPr>
        <a:xfrm>
          <a:off x="135954" y="135954"/>
          <a:ext cx="1526698" cy="1087638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9AFE128-ACF6-44CA-B18B-64F5782CF210}">
      <dsp:nvSpPr>
        <dsp:cNvPr id="0" name=""/>
        <dsp:cNvSpPr/>
      </dsp:nvSpPr>
      <dsp:spPr>
        <a:xfrm>
          <a:off x="0" y="1504122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kern="1200" dirty="0">
              <a:solidFill>
                <a:schemeClr val="bg1"/>
              </a:solidFill>
            </a:rPr>
            <a:t>Roberto Zurita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i="1" kern="1200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Scrum Team</a:t>
          </a:r>
          <a:endParaRPr lang="es-CL" sz="1700" kern="1200" dirty="0">
            <a:solidFill>
              <a:schemeClr val="bg1"/>
            </a:solidFill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i="1" kern="1200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Construir</a:t>
          </a:r>
          <a:r>
            <a:rPr lang="en-US" sz="1700" i="1" kern="1200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</a:t>
          </a:r>
          <a:r>
            <a:rPr lang="en-US" sz="1700" i="1" kern="1200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funcionalidades</a:t>
          </a:r>
          <a:r>
            <a:rPr lang="en-US" sz="1700" i="1" kern="1200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- </a:t>
          </a:r>
          <a:r>
            <a:rPr lang="en-US" sz="1700" i="1" kern="1200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asegurar</a:t>
          </a:r>
          <a:r>
            <a:rPr lang="en-US" sz="1700" i="1" kern="1200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</a:t>
          </a:r>
          <a:r>
            <a:rPr lang="en-US" sz="1700" i="1" kern="1200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calidad</a:t>
          </a:r>
          <a:endParaRPr lang="en-US" sz="1700" i="1" kern="1200" dirty="0">
            <a:solidFill>
              <a:schemeClr val="bg1"/>
            </a:solidFill>
            <a:latin typeface="Agrandir Italics"/>
            <a:ea typeface="Agrandir Italics"/>
            <a:cs typeface="Agrandir Italics"/>
            <a:sym typeface="Agrandir Italics"/>
          </a:endParaRPr>
        </a:p>
      </dsp:txBody>
      <dsp:txXfrm>
        <a:off x="1662653" y="1504122"/>
        <a:ext cx="5970840" cy="1359548"/>
      </dsp:txXfrm>
    </dsp:sp>
    <dsp:sp modelId="{3F97C059-D720-4D48-953F-B84D04D0BF79}">
      <dsp:nvSpPr>
        <dsp:cNvPr id="0" name=""/>
        <dsp:cNvSpPr/>
      </dsp:nvSpPr>
      <dsp:spPr>
        <a:xfrm>
          <a:off x="135954" y="1631457"/>
          <a:ext cx="1526698" cy="1087638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F36F4ED1-B414-46B8-A8C5-C0FB11F5CFBC}">
      <dsp:nvSpPr>
        <dsp:cNvPr id="0" name=""/>
        <dsp:cNvSpPr/>
      </dsp:nvSpPr>
      <dsp:spPr>
        <a:xfrm>
          <a:off x="0" y="2991005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kern="1200" dirty="0">
              <a:solidFill>
                <a:schemeClr val="bg1"/>
              </a:solidFill>
            </a:rPr>
            <a:t>Samuel Jiménez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i="1" kern="1200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Product Owner</a:t>
          </a:r>
          <a:endParaRPr lang="es-CL" sz="1700" kern="1200" dirty="0">
            <a:solidFill>
              <a:schemeClr val="bg1"/>
            </a:solidFill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i="1" kern="1200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Definir</a:t>
          </a:r>
          <a:r>
            <a:rPr lang="en-US" sz="1700" i="1" kern="1200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</a:t>
          </a:r>
          <a:r>
            <a:rPr lang="en-US" sz="1700" i="1" kern="1200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Prioridad</a:t>
          </a:r>
          <a:r>
            <a:rPr lang="en-US" sz="1700" i="1" kern="1200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del Backlog - </a:t>
          </a:r>
          <a:r>
            <a:rPr lang="en-US" sz="1700" i="1" kern="1200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Comunicar</a:t>
          </a:r>
          <a:r>
            <a:rPr lang="en-US" sz="1700" i="1" kern="1200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la </a:t>
          </a:r>
          <a:r>
            <a:rPr lang="en-US" sz="1700" i="1" kern="1200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visión</a:t>
          </a:r>
          <a:r>
            <a:rPr lang="en-US" sz="1700" i="1" kern="1200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del </a:t>
          </a:r>
          <a:r>
            <a:rPr lang="en-US" sz="1700" i="1" kern="1200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producto</a:t>
          </a:r>
          <a:endParaRPr lang="en-US" sz="1700" i="1" kern="1200" dirty="0">
            <a:solidFill>
              <a:schemeClr val="bg1"/>
            </a:solidFill>
            <a:latin typeface="Agrandir Italics"/>
            <a:ea typeface="Agrandir Italics"/>
            <a:cs typeface="Agrandir Italics"/>
            <a:sym typeface="Agrandir Italics"/>
          </a:endParaRPr>
        </a:p>
      </dsp:txBody>
      <dsp:txXfrm>
        <a:off x="1662653" y="2991005"/>
        <a:ext cx="5970840" cy="1359548"/>
      </dsp:txXfrm>
    </dsp:sp>
    <dsp:sp modelId="{7C6A764B-C67C-494C-B90E-7B3C3DDE54A4}">
      <dsp:nvSpPr>
        <dsp:cNvPr id="0" name=""/>
        <dsp:cNvSpPr/>
      </dsp:nvSpPr>
      <dsp:spPr>
        <a:xfrm>
          <a:off x="135954" y="3126960"/>
          <a:ext cx="1526698" cy="1087638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4A916-2C2E-265E-D1A7-F8BA8BAA5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2B618F-FEF4-D0FB-4038-D93A262EA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43312A-AEFB-3177-E12B-386C4F429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05-12-2025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7C3C00-ADC0-ABB2-EF55-4D170DA0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B0C28A-E393-39C0-65D4-7252445F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3887044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7B6CD-9456-B138-ECD2-C8D7A666C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74D6B0-7AF3-685F-CEAB-5529E05E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F52F25-C2C6-7F7B-276E-37CD648A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05-12-2025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947A73-C5CF-9FE2-967B-D4D866F9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ECAE93-9144-BF33-1401-DF6FFF6F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392971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56A89-B019-96BD-5BAD-62AE0C3A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2B60B4-76B8-D88B-5674-F86DC3670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DE800A-255F-4AE1-5E56-606A61B37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05-12-2025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FC92BF-9B9F-10CC-5BC8-BAC85DDB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72357-062E-F22F-4B80-ED779DDD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426009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99D17-3BAA-B1F3-D450-274A02753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60F58E-6555-CC20-7FB5-60DB4AEFC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CAA47F-EB54-628D-A823-3A00718BE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90AFF8-D9BE-4C13-0483-E843C51C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05-12-2025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CF5C03-2790-90EB-0D65-AA62820C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91F526-CDE5-755B-4A3F-50F80776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2846858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9CF108-6B99-8CCE-C8FD-D995F996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0B922A-6156-2235-AA95-A8B8C02B3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40D8F2-325E-B2D8-EDDA-56DE9D1F2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8884F1-5F33-E36A-DEE4-9693FBE7D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DF08E0-1508-F512-337D-F5C8A5F0C3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53ED18-81E3-9782-22CD-40D6A190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05-12-2025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8D2E67-9BFA-E800-3A7E-8900D96D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56AEF8A-22F0-544A-1B96-40996F1A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3044769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0A5D8-AC89-1289-2F04-0814CB9B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703452B-17EB-394F-735B-5A921A58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05-12-2025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0A54D4-94C4-7743-43A2-1A52792A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9886359-BA16-2E60-D21D-C9E1AD88B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282747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9082406-6A57-2057-24EC-1A6C257A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05-12-2025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4737A7-3975-9225-3AAC-282F9F45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58996F-BDE4-86FA-BD9D-DFCAB914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3576406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B1326-48D6-CCCF-9030-3AC9A67CD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04BD84-4F55-3649-4756-7A4CE760D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111F47-438E-ECB7-5D1F-CB07E54FD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1E9545-DD0E-6A0B-2B88-934785A7E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05-12-2025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3CD897-12AF-A56D-CB14-1B41012DE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257B85-275B-F539-96E6-BF6C3F487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351477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5BFE8-4F8E-9F77-F45C-B4D87029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3CB21F6-368F-6F50-5C0D-6BE2DDE1E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12122B-29C5-7F4E-7EFB-41EF277FC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7332B2-B78B-790B-184B-C7299CC4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05-12-2025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1CBB3B-17B4-113F-AA5B-E804167A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8A1FFA-A66B-F32D-E3CE-2337B07F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6603574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A4049-BEF3-0AFD-A19B-45FF1D820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FD3394-1BB2-4A78-E0C2-B81E3B0A0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B1E014-02B1-2EA8-C324-69C06571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05-12-2025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D9E46F-A5FD-E000-2817-06E54BC7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F151D9-94A1-87E1-B673-4D3D316B9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804739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72A6E5-A0E4-586A-8BAE-08F39AC9E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C75B9-2362-53B4-3282-7D8A22F06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97AA35-3C24-08C9-2992-BE0C70C5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05-12-2025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103D78-DCDD-276E-7575-A1992D70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60B15A-BAF6-5EBF-7331-0AFFFFAB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3337686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8B6D4E-E3C2-3792-E3C4-2CBC2E052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82E89E-FB21-817B-8050-7AD81F9CE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A1C48C-F8B6-B30A-3815-D7ADD14FF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05-12-2025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9214F-88E2-1045-9D0B-C2ECD481C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38CA17-DD6E-139F-6ED9-FAD83BB72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670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20.png"/><Relationship Id="rId4" Type="http://schemas.openxmlformats.org/officeDocument/2006/relationships/diagramLayout" Target="../diagrams/layout1.xml"/><Relationship Id="rId9" Type="http://schemas.openxmlformats.org/officeDocument/2006/relationships/slide" Target="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389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PROYECTO “</a:t>
            </a:r>
            <a:r>
              <a:rPr lang="en-US" sz="4400" b="1" i="1" dirty="0">
                <a:solidFill>
                  <a:srgbClr val="000000"/>
                </a:solidFill>
                <a:latin typeface="Agrandir Heavy Italics"/>
                <a:ea typeface="Agrandir Heavy Italics"/>
                <a:cs typeface="Agrandir Heavy Italics"/>
                <a:sym typeface="Agrandir Heavy Italics"/>
              </a:rPr>
              <a:t>WayfindCL</a:t>
            </a:r>
            <a:r>
              <a:rPr lang="es-MX" sz="4400" dirty="0"/>
              <a:t>”</a:t>
            </a:r>
          </a:p>
          <a:p>
            <a:pPr algn="ctr"/>
            <a:r>
              <a:rPr lang="en-US" sz="2400" i="1" dirty="0">
                <a:solidFill>
                  <a:srgbClr val="000000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Plataforma para mejorar la </a:t>
            </a:r>
            <a:r>
              <a:rPr lang="es-CL" sz="2400" i="1" noProof="0" dirty="0">
                <a:solidFill>
                  <a:srgbClr val="000000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accesibilidad</a:t>
            </a:r>
            <a:r>
              <a:rPr lang="en-US" sz="2400" i="1" dirty="0">
                <a:solidFill>
                  <a:srgbClr val="000000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 de personas NO </a:t>
            </a:r>
            <a:r>
              <a:rPr lang="en-US" sz="2400" i="1" dirty="0" err="1">
                <a:solidFill>
                  <a:srgbClr val="000000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videntes</a:t>
            </a:r>
            <a:endParaRPr lang="en-US" sz="2400" i="1" dirty="0">
              <a:solidFill>
                <a:srgbClr val="000000"/>
              </a:solidFill>
              <a:latin typeface="Agrandir Italics"/>
              <a:ea typeface="Agrandir Italics"/>
              <a:cs typeface="Agrandir Italics"/>
              <a:sym typeface="Agrandir Italics"/>
            </a:endParaRPr>
          </a:p>
          <a:p>
            <a:pPr algn="ctr"/>
            <a:r>
              <a:rPr lang="es-MX" sz="2400" dirty="0"/>
              <a:t>PRESENTACIÓN FINAL CAPSTONE</a:t>
            </a:r>
            <a:br>
              <a:rPr lang="es-MX" sz="2400" dirty="0"/>
            </a:br>
            <a:endParaRPr lang="es-MX" sz="2400" dirty="0"/>
          </a:p>
          <a:p>
            <a:pPr algn="ctr"/>
            <a:endParaRPr lang="es-MX" sz="2400" dirty="0"/>
          </a:p>
          <a:p>
            <a:pPr algn="ctr"/>
            <a:endParaRPr lang="es-MX" sz="2400" dirty="0"/>
          </a:p>
          <a:p>
            <a:pPr algn="ctr"/>
            <a:endParaRPr lang="es-MX" sz="2400" dirty="0"/>
          </a:p>
          <a:p>
            <a:pPr lvl="0">
              <a:lnSpc>
                <a:spcPts val="2120"/>
              </a:lnSpc>
              <a:spcBef>
                <a:spcPct val="0"/>
              </a:spcBef>
            </a:pPr>
            <a:r>
              <a:rPr lang="en-US" sz="2400" i="1" dirty="0">
                <a:solidFill>
                  <a:srgbClr val="000000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Por  Roberto Zurita, Sebastián Muñoz Samuel Jimenez </a:t>
            </a:r>
          </a:p>
          <a:p>
            <a:pPr lvl="0">
              <a:lnSpc>
                <a:spcPts val="2120"/>
              </a:lnSpc>
              <a:spcBef>
                <a:spcPct val="0"/>
              </a:spcBef>
            </a:pPr>
            <a:r>
              <a:rPr lang="en-US" sz="2400" i="1" dirty="0">
                <a:solidFill>
                  <a:srgbClr val="000000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Sabado, 18 </a:t>
            </a:r>
            <a:r>
              <a:rPr lang="en-US" sz="2400" i="1" dirty="0" err="1">
                <a:solidFill>
                  <a:srgbClr val="000000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Octubre</a:t>
            </a:r>
            <a:r>
              <a:rPr lang="en-US" sz="2400" i="1" dirty="0">
                <a:solidFill>
                  <a:srgbClr val="000000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 2025.</a:t>
            </a:r>
          </a:p>
          <a:p>
            <a:pPr algn="ctr"/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23919631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D98BAAD-E67E-3FB9-220F-BD3AA3645F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9597402"/>
              </p:ext>
            </p:extLst>
          </p:nvPr>
        </p:nvGraphicFramePr>
        <p:xfrm>
          <a:off x="4121026" y="1710819"/>
          <a:ext cx="7633494" cy="4350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15868" y="230894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WayfindCL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INTEGRANTES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-238329" y="63610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Vista general de diapositiva 2">
                <a:extLst>
                  <a:ext uri="{FF2B5EF4-FFF2-40B4-BE49-F238E27FC236}">
                    <a16:creationId xmlns:a16="http://schemas.microsoft.com/office/drawing/2014/main" id="{8A67A538-39A0-66D8-FFC4-88379255A56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29472280"/>
                  </p:ext>
                </p:extLst>
              </p:nvPr>
            </p:nvGraphicFramePr>
            <p:xfrm>
              <a:off x="-3454400" y="1774190"/>
              <a:ext cx="3048000" cy="1714500"/>
            </p:xfrm>
            <a:graphic>
              <a:graphicData uri="http://schemas.microsoft.com/office/powerpoint/2016/slidezoom">
                <pslz:sldZm>
                  <pslz:sldZmObj sldId="257" cId="2436815989">
                    <pslz:zmPr id="{94A7D015-2AE4-4568-B4E8-89166C08EC11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Vista general de diapositiva 2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8A67A538-39A0-66D8-FFC4-88379255A56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3454400" y="1774190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68159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DESCRIPCIÓN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CB288BD-84B1-DF16-6004-32D5F8A61FF7}"/>
              </a:ext>
            </a:extLst>
          </p:cNvPr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Problema o dolor</a:t>
            </a:r>
          </a:p>
          <a:p>
            <a:pPr lvl="0" algn="ctr"/>
            <a:endParaRPr lang="es-MX" u="sng" dirty="0"/>
          </a:p>
          <a:p>
            <a:pPr algn="just"/>
            <a:r>
              <a:rPr lang="es-MX" dirty="0"/>
              <a:t>Las personas no videntes tienen problemas para orientarse dentro de la ciudad, las calles, paraderos y letreros pocas veces tienen señalización táctil o auditiva, tienen dificultad para identificar las micros que llegan a los paraderos, y cuando bajarse, necesitan pedir ayuda constantemente a desconocidos, esto sumado a la escasez de herramientas inclusivas genera estrés y ansiedad en los trayectos. 	</a:t>
            </a:r>
            <a:endParaRPr lang="es-CL" sz="1800" dirty="0"/>
          </a:p>
          <a:p>
            <a:pPr lvl="0" algn="ctr"/>
            <a:endParaRPr lang="es-CL" sz="1800" u="sng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DC84C5C-77A0-B2A2-F0BB-8A7713B865EA}"/>
              </a:ext>
            </a:extLst>
          </p:cNvPr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Propuesta de solución</a:t>
            </a:r>
          </a:p>
          <a:p>
            <a:pPr lvl="0" algn="ctr"/>
            <a:endParaRPr lang="es-MX" u="sng" dirty="0"/>
          </a:p>
          <a:p>
            <a:pPr lvl="0" algn="just"/>
            <a:r>
              <a:rPr lang="es-MX" dirty="0"/>
              <a:t>Nuestra solución es el desarrollo de una aplicación móvil capaz de entregar autonomía al usuario, creando una guía auditiva precisa en indicaciones y uso del trasporte publico.</a:t>
            </a:r>
            <a:endParaRPr lang="es-CL" sz="1800" dirty="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4B09E7F-FBE6-31BF-0C0F-DD32DBE05724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75A73D3-82DC-6DD3-6F31-CB7CC5DD44CA}"/>
              </a:ext>
            </a:extLst>
          </p:cNvPr>
          <p:cNvSpPr txBox="1"/>
          <p:nvPr/>
        </p:nvSpPr>
        <p:spPr>
          <a:xfrm>
            <a:off x="115868" y="230894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WayfindCL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WayfindCL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33B57D9-BF13-9372-D021-14655CF00C4C}"/>
              </a:ext>
            </a:extLst>
          </p:cNvPr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8D4A171-2FE3-5173-34E6-9DC3D74E7376}"/>
              </a:ext>
            </a:extLst>
          </p:cNvPr>
          <p:cNvSpPr/>
          <p:nvPr/>
        </p:nvSpPr>
        <p:spPr>
          <a:xfrm>
            <a:off x="614515" y="2040571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Mejorar la seguridad en los trayectos de las personas con discapacidad visual</a:t>
            </a:r>
            <a:endParaRPr lang="es-CL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E63425F-86F4-531E-E0F5-7A349604A51E}"/>
              </a:ext>
            </a:extLst>
          </p:cNvPr>
          <p:cNvSpPr/>
          <p:nvPr/>
        </p:nvSpPr>
        <p:spPr>
          <a:xfrm>
            <a:off x="614514" y="4732407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MX" dirty="0"/>
              <a:t>Disminuir los tiempos en los trayectos de las personas no vidente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MX" dirty="0"/>
              <a:t>Aumentar la autonomía de las personas no videntes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MX" dirty="0"/>
              <a:t>Disminuir el riesgo de perderse de las personas no videntes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7176697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WayfindCL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Alcance y Limitaciones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BA76B0A0-B494-3D5C-06E2-1FCE53F1F803}"/>
              </a:ext>
            </a:extLst>
          </p:cNvPr>
          <p:cNvSpPr/>
          <p:nvPr/>
        </p:nvSpPr>
        <p:spPr>
          <a:xfrm>
            <a:off x="328399" y="2396471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Alcance</a:t>
            </a:r>
          </a:p>
          <a:p>
            <a:pPr lvl="0" algn="ctr"/>
            <a:endParaRPr lang="es-MX" u="sng" dirty="0"/>
          </a:p>
          <a:p>
            <a:pPr lvl="0" algn="just"/>
            <a:r>
              <a:rPr lang="es-MX" dirty="0"/>
              <a:t>- Se creará un sistema capaz de guiar al usuario a un destino por guías auditivas.</a:t>
            </a:r>
            <a:br>
              <a:rPr lang="es-MX" dirty="0"/>
            </a:br>
            <a:br>
              <a:rPr lang="es-MX" dirty="0"/>
            </a:br>
            <a:r>
              <a:rPr lang="es-MX" dirty="0"/>
              <a:t>- El sistema será capaz de entregar información en tiempo real de los recorridos de los buses.</a:t>
            </a:r>
          </a:p>
          <a:p>
            <a:pPr lvl="0" algn="just"/>
            <a:endParaRPr lang="es-CL" sz="1800" dirty="0"/>
          </a:p>
          <a:p>
            <a:pPr lvl="0" algn="just"/>
            <a:r>
              <a:rPr lang="es-CL" dirty="0"/>
              <a:t>- Entregará notificaciones constantes y confirmación de acción por un sistema de vibración. 	</a:t>
            </a:r>
            <a:endParaRPr lang="es-CL" sz="1800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B183BBFA-8AF0-B7BF-357E-32F24EB0A5D0}"/>
              </a:ext>
            </a:extLst>
          </p:cNvPr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Limitaciones</a:t>
            </a:r>
          </a:p>
          <a:p>
            <a:pPr lvl="0" algn="ctr"/>
            <a:endParaRPr lang="es-MX" u="sng" dirty="0"/>
          </a:p>
          <a:p>
            <a:pPr lvl="0" algn="just"/>
            <a:r>
              <a:rPr lang="es-MX" dirty="0"/>
              <a:t>- El sistema solo será funcional para los operadores concesionados del sistema Red Movilidad, no podrá predecir o generar ruta con sistemas de trasporte externos a la Red, por lo que la aplicación esta pensada para funcionar de forma completa dentro de Santiago.</a:t>
            </a:r>
            <a:br>
              <a:rPr lang="es-MX" dirty="0"/>
            </a:br>
            <a:br>
              <a:rPr lang="es-MX" dirty="0"/>
            </a:br>
            <a:r>
              <a:rPr lang="es-MX" dirty="0"/>
              <a:t>- El sistema dependerá de la integración con red para predecir los recorridos de los buses. </a:t>
            </a:r>
          </a:p>
          <a:p>
            <a:pPr lvl="0" algn="just"/>
            <a:endParaRPr lang="es-MX" sz="1800" dirty="0"/>
          </a:p>
          <a:p>
            <a:pPr lvl="0" algn="just"/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WayfindCL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METODOLOGÍA ÁGIL CON SCRUM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CC7B9B7F-AA4B-4F2F-FD6C-1AA5668DFCD9}"/>
              </a:ext>
            </a:extLst>
          </p:cNvPr>
          <p:cNvSpPr/>
          <p:nvPr/>
        </p:nvSpPr>
        <p:spPr>
          <a:xfrm>
            <a:off x="303419" y="2254231"/>
            <a:ext cx="11585159" cy="4396219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marL="285750" lvl="0" indent="-285750" algn="ctr">
              <a:buFont typeface="Arial" panose="020B0604020202020204" pitchFamily="34" charset="0"/>
              <a:buChar char="•"/>
            </a:pPr>
            <a:r>
              <a:rPr lang="es-MX" sz="2400" dirty="0"/>
              <a:t>Metodología ágil (Scrum): Trabajaremos con Scrum, organizando el proyecto en </a:t>
            </a:r>
            <a:r>
              <a:rPr lang="es-MX" sz="2400" dirty="0" err="1"/>
              <a:t>sprints</a:t>
            </a:r>
            <a:r>
              <a:rPr lang="es-MX" sz="2400" dirty="0"/>
              <a:t> de 2 semanas para avanzar de forma iterativa e incremental.</a:t>
            </a:r>
          </a:p>
          <a:p>
            <a:pPr marL="285750" lvl="0" indent="-285750" algn="ctr">
              <a:buFont typeface="Arial" panose="020B0604020202020204" pitchFamily="34" charset="0"/>
              <a:buChar char="•"/>
            </a:pPr>
            <a:endParaRPr lang="es-MX" sz="2400" dirty="0"/>
          </a:p>
          <a:p>
            <a:pPr marL="285750" lvl="0" indent="-285750" algn="ctr">
              <a:buFont typeface="Arial" panose="020B0604020202020204" pitchFamily="34" charset="0"/>
              <a:buChar char="•"/>
            </a:pPr>
            <a:r>
              <a:rPr lang="es-MX" sz="2400" dirty="0"/>
              <a:t>Gestión en Jira: Utilizaremos Jira para administrar el backlog, registrar épicas e historias de usuario, y dar seguimiento al progreso del equipo.</a:t>
            </a:r>
          </a:p>
          <a:p>
            <a:pPr marL="285750" lvl="0" indent="-285750" algn="ctr">
              <a:buFont typeface="Arial" panose="020B0604020202020204" pitchFamily="34" charset="0"/>
              <a:buChar char="•"/>
            </a:pPr>
            <a:endParaRPr lang="es-MX" sz="2400" dirty="0"/>
          </a:p>
          <a:p>
            <a:pPr marL="285750" lvl="0" indent="-285750" algn="ctr">
              <a:buFont typeface="Arial" panose="020B0604020202020204" pitchFamily="34" charset="0"/>
              <a:buChar char="•"/>
            </a:pPr>
            <a:r>
              <a:rPr lang="es-MX" sz="2400" dirty="0"/>
              <a:t>Entregas parciales (</a:t>
            </a:r>
            <a:r>
              <a:rPr lang="es-MX" sz="2400" dirty="0" err="1"/>
              <a:t>releases</a:t>
            </a:r>
            <a:r>
              <a:rPr lang="es-MX" sz="2400" dirty="0"/>
              <a:t>): Cada sprint generará un incremento funcional de la aplicación, lo que permite revisar, probar y mejorar continuamente.</a:t>
            </a:r>
          </a:p>
          <a:p>
            <a:pPr marL="285750" lvl="0" indent="-285750" algn="ctr">
              <a:buFont typeface="Arial" panose="020B0604020202020204" pitchFamily="34" charset="0"/>
              <a:buChar char="•"/>
            </a:pPr>
            <a:endParaRPr lang="es-MX" sz="2400" dirty="0"/>
          </a:p>
          <a:p>
            <a:pPr marL="285750" lvl="0" indent="-285750" algn="ctr">
              <a:buFont typeface="Arial" panose="020B0604020202020204" pitchFamily="34" charset="0"/>
              <a:buChar char="•"/>
            </a:pPr>
            <a:r>
              <a:rPr lang="es-MX" sz="2400" dirty="0"/>
              <a:t>Colaboración y adaptabilidad: El equipo se reunirá regularmente para coordinar tareas, revisar avances y adaptarse rápidamente a cambios en los requerimientos.</a:t>
            </a:r>
          </a:p>
          <a:p>
            <a:pPr lvl="0" algn="ctr"/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396419974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991B6-672E-AE19-3DDC-551DB10EA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B02D33CC-D9ED-C11C-3202-E82809478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7C7D4D2-7652-2853-748E-C9DA3B40F5B8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WayfindCL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6E4FF0A-6294-78ED-3A85-7A0B1C02270B}"/>
              </a:ext>
            </a:extLst>
          </p:cNvPr>
          <p:cNvSpPr txBox="1"/>
          <p:nvPr/>
        </p:nvSpPr>
        <p:spPr>
          <a:xfrm>
            <a:off x="-278441" y="64036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Release Plan del desarrollo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B42D881-671C-9FDC-4367-8F67F402142D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95885D33-E9B5-B29B-CDBE-F6F216EB2562}"/>
              </a:ext>
            </a:extLst>
          </p:cNvPr>
          <p:cNvSpPr/>
          <p:nvPr/>
        </p:nvSpPr>
        <p:spPr>
          <a:xfrm>
            <a:off x="62441" y="1404358"/>
            <a:ext cx="2099280" cy="89255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Sprint 1 </a:t>
            </a:r>
            <a:br>
              <a:rPr lang="es-MX" dirty="0">
                <a:solidFill>
                  <a:schemeClr val="tx1"/>
                </a:solidFill>
              </a:rPr>
            </a:br>
            <a:r>
              <a:rPr lang="es-MX" dirty="0">
                <a:solidFill>
                  <a:schemeClr val="tx1"/>
                </a:solidFill>
              </a:rPr>
              <a:t>11-08- al 22-08</a:t>
            </a:r>
            <a:endParaRPr lang="es-CL" dirty="0">
              <a:solidFill>
                <a:schemeClr val="tx1"/>
              </a:solidFill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0E159F3B-9037-77B4-A64D-F7F8D39AC63D}"/>
              </a:ext>
            </a:extLst>
          </p:cNvPr>
          <p:cNvSpPr/>
          <p:nvPr/>
        </p:nvSpPr>
        <p:spPr>
          <a:xfrm>
            <a:off x="2949721" y="1405306"/>
            <a:ext cx="2083733" cy="89255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Sprint 2 </a:t>
            </a:r>
            <a:br>
              <a:rPr lang="es-MX" dirty="0">
                <a:solidFill>
                  <a:schemeClr val="tx1"/>
                </a:solidFill>
              </a:rPr>
            </a:br>
            <a:r>
              <a:rPr lang="es-MX" dirty="0">
                <a:solidFill>
                  <a:schemeClr val="tx1"/>
                </a:solidFill>
              </a:rPr>
              <a:t>25-08 al 05-09</a:t>
            </a:r>
            <a:endParaRPr lang="es-CL" dirty="0">
              <a:solidFill>
                <a:schemeClr val="tx1"/>
              </a:solidFill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686CFE0B-ADF5-63BD-2BD8-3FA89B97B19C}"/>
              </a:ext>
            </a:extLst>
          </p:cNvPr>
          <p:cNvSpPr/>
          <p:nvPr/>
        </p:nvSpPr>
        <p:spPr>
          <a:xfrm>
            <a:off x="6096000" y="1401466"/>
            <a:ext cx="2174967" cy="89255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Sprint 3</a:t>
            </a:r>
            <a:br>
              <a:rPr lang="es-MX" dirty="0">
                <a:solidFill>
                  <a:schemeClr val="tx1"/>
                </a:solidFill>
              </a:rPr>
            </a:br>
            <a:r>
              <a:rPr lang="es-MX" dirty="0">
                <a:solidFill>
                  <a:schemeClr val="tx1"/>
                </a:solidFill>
              </a:rPr>
              <a:t>08-09 al 19-09</a:t>
            </a:r>
            <a:endParaRPr lang="es-CL" dirty="0">
              <a:solidFill>
                <a:schemeClr val="tx1"/>
              </a:solidFill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6446AB3F-31EF-A7A4-5193-6599142580DD}"/>
              </a:ext>
            </a:extLst>
          </p:cNvPr>
          <p:cNvSpPr/>
          <p:nvPr/>
        </p:nvSpPr>
        <p:spPr>
          <a:xfrm>
            <a:off x="9333513" y="1411933"/>
            <a:ext cx="2083733" cy="89255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Sprint 4</a:t>
            </a:r>
            <a:br>
              <a:rPr lang="es-MX" dirty="0">
                <a:solidFill>
                  <a:schemeClr val="tx1"/>
                </a:solidFill>
              </a:rPr>
            </a:br>
            <a:r>
              <a:rPr lang="es-CL" dirty="0">
                <a:solidFill>
                  <a:schemeClr val="tx1"/>
                </a:solidFill>
              </a:rPr>
              <a:t>22-09 al 3-10</a:t>
            </a:r>
            <a:endParaRPr lang="es-MX" dirty="0">
              <a:solidFill>
                <a:schemeClr val="tx1"/>
              </a:solidFill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2D72A16A-0DF9-0457-2480-C2A1486D5C6B}"/>
              </a:ext>
            </a:extLst>
          </p:cNvPr>
          <p:cNvCxnSpPr/>
          <p:nvPr/>
        </p:nvCxnSpPr>
        <p:spPr>
          <a:xfrm>
            <a:off x="62441" y="3920886"/>
            <a:ext cx="116423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30B8D41-8F74-A624-F70B-9F398C16C8EE}"/>
              </a:ext>
            </a:extLst>
          </p:cNvPr>
          <p:cNvSpPr txBox="1"/>
          <p:nvPr/>
        </p:nvSpPr>
        <p:spPr>
          <a:xfrm>
            <a:off x="11256991" y="3582332"/>
            <a:ext cx="11258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 err="1"/>
              <a:t>Release</a:t>
            </a:r>
            <a:r>
              <a:rPr lang="es-MX" sz="1600" dirty="0"/>
              <a:t> 1	</a:t>
            </a:r>
            <a:endParaRPr lang="es-CL" sz="16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92D9EAC-17A9-2C4A-188A-61EEB1947C69}"/>
              </a:ext>
            </a:extLst>
          </p:cNvPr>
          <p:cNvSpPr txBox="1"/>
          <p:nvPr/>
        </p:nvSpPr>
        <p:spPr>
          <a:xfrm>
            <a:off x="11199771" y="6547769"/>
            <a:ext cx="12403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 err="1"/>
              <a:t>Release</a:t>
            </a:r>
            <a:r>
              <a:rPr lang="es-MX" sz="1600" dirty="0"/>
              <a:t> 2	</a:t>
            </a:r>
            <a:endParaRPr lang="es-CL" sz="1600" dirty="0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DC360034-6E71-ED15-4532-9CA65AC27FAE}"/>
              </a:ext>
            </a:extLst>
          </p:cNvPr>
          <p:cNvSpPr/>
          <p:nvPr/>
        </p:nvSpPr>
        <p:spPr>
          <a:xfrm>
            <a:off x="325968" y="2385641"/>
            <a:ext cx="1665452" cy="32380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Activar la app por voz</a:t>
            </a:r>
            <a:endParaRPr lang="es-CL" sz="1000" dirty="0">
              <a:solidFill>
                <a:schemeClr val="tx1"/>
              </a:solidFill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D704ADCA-7F43-EC96-F4A4-9D0C558344C7}"/>
              </a:ext>
            </a:extLst>
          </p:cNvPr>
          <p:cNvSpPr/>
          <p:nvPr/>
        </p:nvSpPr>
        <p:spPr>
          <a:xfrm>
            <a:off x="325967" y="2758227"/>
            <a:ext cx="1665452" cy="32380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Confirmación de destino reconocido</a:t>
            </a:r>
            <a:endParaRPr lang="es-CL" sz="1000" dirty="0">
              <a:solidFill>
                <a:schemeClr val="tx1"/>
              </a:solidFill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C15CD1BA-574D-18F2-1EEF-1FFE381F00D2}"/>
              </a:ext>
            </a:extLst>
          </p:cNvPr>
          <p:cNvSpPr/>
          <p:nvPr/>
        </p:nvSpPr>
        <p:spPr>
          <a:xfrm>
            <a:off x="325967" y="3141352"/>
            <a:ext cx="1665452" cy="32380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Captura de destino por voz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3D6DD559-FC5E-B789-FA56-E0140799ADD3}"/>
              </a:ext>
            </a:extLst>
          </p:cNvPr>
          <p:cNvSpPr/>
          <p:nvPr/>
        </p:nvSpPr>
        <p:spPr>
          <a:xfrm>
            <a:off x="325967" y="3508353"/>
            <a:ext cx="1665452" cy="32380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Voz que lee instrucciones de ruta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5D52EA8E-A72A-4F31-B838-5209D0724464}"/>
              </a:ext>
            </a:extLst>
          </p:cNvPr>
          <p:cNvSpPr/>
          <p:nvPr/>
        </p:nvSpPr>
        <p:spPr>
          <a:xfrm>
            <a:off x="9607380" y="2957660"/>
            <a:ext cx="1665452" cy="4114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Repetición bajo demanda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3359E4AC-DF86-16AA-403C-2C6CF360227E}"/>
              </a:ext>
            </a:extLst>
          </p:cNvPr>
          <p:cNvSpPr/>
          <p:nvPr/>
        </p:nvSpPr>
        <p:spPr>
          <a:xfrm>
            <a:off x="9611997" y="2433946"/>
            <a:ext cx="1665452" cy="4114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Recomendar micro y paradero de subida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C2352133-587C-40EB-0E4D-39A1115CE557}"/>
              </a:ext>
            </a:extLst>
          </p:cNvPr>
          <p:cNvSpPr/>
          <p:nvPr/>
        </p:nvSpPr>
        <p:spPr>
          <a:xfrm>
            <a:off x="9607380" y="5373249"/>
            <a:ext cx="1665452" cy="4114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Flujo 100% por voz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486ABABA-D694-FF5A-EE92-DCC680577654}"/>
              </a:ext>
            </a:extLst>
          </p:cNvPr>
          <p:cNvSpPr/>
          <p:nvPr/>
        </p:nvSpPr>
        <p:spPr>
          <a:xfrm>
            <a:off x="3092419" y="2941858"/>
            <a:ext cx="1665452" cy="41143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Recalcular ruta si me desvió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DE9639C3-E36F-B500-60B1-3E0E87DD2FEC}"/>
              </a:ext>
            </a:extLst>
          </p:cNvPr>
          <p:cNvSpPr/>
          <p:nvPr/>
        </p:nvSpPr>
        <p:spPr>
          <a:xfrm>
            <a:off x="6362000" y="2433946"/>
            <a:ext cx="1665452" cy="41143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Obtener ruta básica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02F8E02B-4051-CAA8-9150-38011C1FC030}"/>
              </a:ext>
            </a:extLst>
          </p:cNvPr>
          <p:cNvSpPr/>
          <p:nvPr/>
        </p:nvSpPr>
        <p:spPr>
          <a:xfrm>
            <a:off x="6374374" y="2990258"/>
            <a:ext cx="1665452" cy="41143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Validación de dirección existente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17A534B5-EF6A-6682-141C-F1D75FEFFA59}"/>
              </a:ext>
            </a:extLst>
          </p:cNvPr>
          <p:cNvSpPr/>
          <p:nvPr/>
        </p:nvSpPr>
        <p:spPr>
          <a:xfrm>
            <a:off x="6362000" y="3464444"/>
            <a:ext cx="1665452" cy="41143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Ruta combinada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1633FDAD-127A-AFE3-0A19-6AA486BAD18D}"/>
              </a:ext>
            </a:extLst>
          </p:cNvPr>
          <p:cNvSpPr/>
          <p:nvPr/>
        </p:nvSpPr>
        <p:spPr>
          <a:xfrm>
            <a:off x="3158860" y="5863408"/>
            <a:ext cx="1665452" cy="41143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Alternativas de ruta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DCDDE8CD-4BF5-04B1-F49F-D716342717D7}"/>
              </a:ext>
            </a:extLst>
          </p:cNvPr>
          <p:cNvSpPr/>
          <p:nvPr/>
        </p:nvSpPr>
        <p:spPr>
          <a:xfrm>
            <a:off x="3158860" y="6346292"/>
            <a:ext cx="1665452" cy="41143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Guardar destinos frecuente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2FD7999F-6F73-C15D-1BAB-AFECCA5D35BA}"/>
              </a:ext>
            </a:extLst>
          </p:cNvPr>
          <p:cNvSpPr/>
          <p:nvPr/>
        </p:nvSpPr>
        <p:spPr>
          <a:xfrm>
            <a:off x="6362000" y="4928209"/>
            <a:ext cx="1665452" cy="4114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Reportar problema por voz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6F473EE2-5CAE-1D2C-44DE-A7E64528B64F}"/>
              </a:ext>
            </a:extLst>
          </p:cNvPr>
          <p:cNvSpPr/>
          <p:nvPr/>
        </p:nvSpPr>
        <p:spPr>
          <a:xfrm>
            <a:off x="9607380" y="3436017"/>
            <a:ext cx="1665452" cy="4114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Próxima llegada de micro en tiempo real</a:t>
            </a:r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68F4FD2E-26A1-8AFD-AA44-0FD9FCF80CEC}"/>
              </a:ext>
            </a:extLst>
          </p:cNvPr>
          <p:cNvSpPr/>
          <p:nvPr/>
        </p:nvSpPr>
        <p:spPr>
          <a:xfrm>
            <a:off x="279355" y="4931101"/>
            <a:ext cx="1665452" cy="4114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Recordar antes de llegar al paradero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614226C2-989D-CA6C-E8D2-617581DFCF78}"/>
              </a:ext>
            </a:extLst>
          </p:cNvPr>
          <p:cNvSpPr/>
          <p:nvPr/>
        </p:nvSpPr>
        <p:spPr>
          <a:xfrm>
            <a:off x="3158860" y="5393625"/>
            <a:ext cx="1665452" cy="4114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Avisar retrasos o desvió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C08EBA8D-0E6B-C030-384A-E81249DD1FBC}"/>
              </a:ext>
            </a:extLst>
          </p:cNvPr>
          <p:cNvSpPr/>
          <p:nvPr/>
        </p:nvSpPr>
        <p:spPr>
          <a:xfrm>
            <a:off x="275169" y="5387342"/>
            <a:ext cx="1665452" cy="4114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Alerta para subir a la micro correcta</a:t>
            </a: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3DFDDF7A-7938-46A2-DCD7-C84CE7176080}"/>
              </a:ext>
            </a:extLst>
          </p:cNvPr>
          <p:cNvSpPr/>
          <p:nvPr/>
        </p:nvSpPr>
        <p:spPr>
          <a:xfrm>
            <a:off x="275169" y="5893630"/>
            <a:ext cx="1665452" cy="4114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Alerta de desviación de ruta </a:t>
            </a:r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DB7C4D73-D69C-C295-B5CE-A69761F32135}"/>
              </a:ext>
            </a:extLst>
          </p:cNvPr>
          <p:cNvSpPr/>
          <p:nvPr/>
        </p:nvSpPr>
        <p:spPr>
          <a:xfrm>
            <a:off x="6374374" y="5387342"/>
            <a:ext cx="1665452" cy="4114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Alerta para bajar en el destino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6CDC08DD-3BA0-C679-9061-6455248011CA}"/>
              </a:ext>
            </a:extLst>
          </p:cNvPr>
          <p:cNvSpPr/>
          <p:nvPr/>
        </p:nvSpPr>
        <p:spPr>
          <a:xfrm>
            <a:off x="6374374" y="5898175"/>
            <a:ext cx="1665452" cy="4114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Anuncios periódicos del recorrido </a:t>
            </a: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A8FC6369-41D8-359C-1F8C-BD85B0154923}"/>
              </a:ext>
            </a:extLst>
          </p:cNvPr>
          <p:cNvSpPr/>
          <p:nvPr/>
        </p:nvSpPr>
        <p:spPr>
          <a:xfrm>
            <a:off x="3092419" y="2433946"/>
            <a:ext cx="1665452" cy="4114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Confirmar micro abordada</a:t>
            </a:r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754B736A-B3A9-9519-0C3B-EC3E92BD0842}"/>
              </a:ext>
            </a:extLst>
          </p:cNvPr>
          <p:cNvSpPr/>
          <p:nvPr/>
        </p:nvSpPr>
        <p:spPr>
          <a:xfrm>
            <a:off x="3068194" y="3446700"/>
            <a:ext cx="1665452" cy="4114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Seguimiento en tiempo real</a:t>
            </a: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59AB477F-C851-78C0-0702-F125BA93C2CB}"/>
              </a:ext>
            </a:extLst>
          </p:cNvPr>
          <p:cNvSpPr/>
          <p:nvPr/>
        </p:nvSpPr>
        <p:spPr>
          <a:xfrm>
            <a:off x="3158860" y="4932174"/>
            <a:ext cx="1665452" cy="4114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Vibración de confirmación</a:t>
            </a:r>
          </a:p>
        </p:txBody>
      </p:sp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EFBE97DA-06C9-55F6-26F5-2C2AA3AAFB96}"/>
              </a:ext>
            </a:extLst>
          </p:cNvPr>
          <p:cNvSpPr/>
          <p:nvPr/>
        </p:nvSpPr>
        <p:spPr>
          <a:xfrm>
            <a:off x="9607380" y="4928209"/>
            <a:ext cx="1665452" cy="4114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Privacidad y manejo mínimo de datos</a:t>
            </a:r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2D7AD19A-F65C-488A-821E-A62019FF5E95}"/>
              </a:ext>
            </a:extLst>
          </p:cNvPr>
          <p:cNvSpPr/>
          <p:nvPr/>
        </p:nvSpPr>
        <p:spPr>
          <a:xfrm>
            <a:off x="9607380" y="5850080"/>
            <a:ext cx="1665452" cy="4114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Modo tutorial para uso inicial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B98B00CB-D913-1143-965E-8ABC302FA885}"/>
              </a:ext>
            </a:extLst>
          </p:cNvPr>
          <p:cNvSpPr/>
          <p:nvPr/>
        </p:nvSpPr>
        <p:spPr>
          <a:xfrm>
            <a:off x="9607380" y="6305616"/>
            <a:ext cx="1665452" cy="4114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Explicación de permisos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E1E0B95A-862F-ED0C-EAB9-7C34A2440262}"/>
              </a:ext>
            </a:extLst>
          </p:cNvPr>
          <p:cNvSpPr/>
          <p:nvPr/>
        </p:nvSpPr>
        <p:spPr>
          <a:xfrm>
            <a:off x="110801" y="3965867"/>
            <a:ext cx="2083733" cy="89255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Sprint 5</a:t>
            </a:r>
            <a:br>
              <a:rPr lang="es-MX" dirty="0">
                <a:solidFill>
                  <a:schemeClr val="tx1"/>
                </a:solidFill>
              </a:rPr>
            </a:br>
            <a:r>
              <a:rPr lang="es-CL" dirty="0">
                <a:solidFill>
                  <a:schemeClr val="tx1"/>
                </a:solidFill>
              </a:rPr>
              <a:t>06-10 al 17-10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CDC481FF-2B55-C110-98B3-4F60C1101818}"/>
              </a:ext>
            </a:extLst>
          </p:cNvPr>
          <p:cNvSpPr/>
          <p:nvPr/>
        </p:nvSpPr>
        <p:spPr>
          <a:xfrm>
            <a:off x="2949720" y="3972656"/>
            <a:ext cx="2083733" cy="89255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Sprint 6</a:t>
            </a:r>
            <a:br>
              <a:rPr lang="es-MX" dirty="0">
                <a:solidFill>
                  <a:schemeClr val="tx1"/>
                </a:solidFill>
              </a:rPr>
            </a:br>
            <a:r>
              <a:rPr lang="es-CL" dirty="0">
                <a:solidFill>
                  <a:schemeClr val="tx1"/>
                </a:solidFill>
              </a:rPr>
              <a:t>20-10 al 31-10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9A4F8757-8C1D-E854-8EEA-EF1BB91DA7D4}"/>
              </a:ext>
            </a:extLst>
          </p:cNvPr>
          <p:cNvSpPr/>
          <p:nvPr/>
        </p:nvSpPr>
        <p:spPr>
          <a:xfrm>
            <a:off x="6187234" y="3983643"/>
            <a:ext cx="2083733" cy="89255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Sprint 7</a:t>
            </a:r>
            <a:br>
              <a:rPr lang="es-MX" dirty="0">
                <a:solidFill>
                  <a:schemeClr val="tx1"/>
                </a:solidFill>
              </a:rPr>
            </a:br>
            <a:r>
              <a:rPr lang="es-MX" dirty="0">
                <a:solidFill>
                  <a:schemeClr val="tx1"/>
                </a:solidFill>
              </a:rPr>
              <a:t>03-11 al 14-11</a:t>
            </a:r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1C25856F-9C10-4E62-1E6B-2D6A3B3899FD}"/>
              </a:ext>
            </a:extLst>
          </p:cNvPr>
          <p:cNvSpPr/>
          <p:nvPr/>
        </p:nvSpPr>
        <p:spPr>
          <a:xfrm>
            <a:off x="9333513" y="3986035"/>
            <a:ext cx="2083733" cy="89255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Sprint 8</a:t>
            </a:r>
            <a:br>
              <a:rPr lang="es-MX" dirty="0">
                <a:solidFill>
                  <a:schemeClr val="tx1"/>
                </a:solidFill>
              </a:rPr>
            </a:br>
            <a:r>
              <a:rPr lang="es-MX" dirty="0">
                <a:solidFill>
                  <a:schemeClr val="tx1"/>
                </a:solidFill>
              </a:rPr>
              <a:t>03-11 al 14-11</a:t>
            </a:r>
          </a:p>
        </p:txBody>
      </p:sp>
    </p:spTree>
    <p:extLst>
      <p:ext uri="{BB962C8B-B14F-4D97-AF65-F5344CB8AC3E}">
        <p14:creationId xmlns:p14="http://schemas.microsoft.com/office/powerpoint/2010/main" val="158638341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-1155479" y="3114856"/>
            <a:ext cx="711225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dirty="0"/>
              <a:t>Arquitectura del Software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*Presentar esquema</a:t>
            </a:r>
          </a:p>
        </p:txBody>
      </p:sp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WayfindCL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A7E66AF2-4228-F514-EBD7-09C924CE35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07" y="0"/>
            <a:ext cx="110217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9146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-3163173" y="281926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Modelo de Datos</a:t>
            </a:r>
          </a:p>
        </p:txBody>
      </p:sp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535" y="160918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WayfindCL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03A0313C-5B51-37D1-ACF1-461520B8AC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349" y="0"/>
            <a:ext cx="58978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45761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WayfindCL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Tecnologías Utilizadas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>
            <a:extLst>
              <a:ext uri="{FF2B5EF4-FFF2-40B4-BE49-F238E27FC236}">
                <a16:creationId xmlns:a16="http://schemas.microsoft.com/office/drawing/2014/main" id="{FFE4F146-26DA-B788-D37A-E6D106C09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5883" y="206933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ED921ED-AC0C-744F-2A5E-7C43DE98F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187" y="4533290"/>
            <a:ext cx="2305050" cy="199072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C2D76C3-14B7-C897-BEA1-98C9B71B47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581" y="2317920"/>
            <a:ext cx="2600325" cy="1762125"/>
          </a:xfrm>
          <a:prstGeom prst="rect">
            <a:avLst/>
          </a:prstGeom>
        </p:spPr>
      </p:pic>
      <p:pic>
        <p:nvPicPr>
          <p:cNvPr id="5" name="Picture 2" descr="Flutter · GitHub">
            <a:extLst>
              <a:ext uri="{FF2B5EF4-FFF2-40B4-BE49-F238E27FC236}">
                <a16:creationId xmlns:a16="http://schemas.microsoft.com/office/drawing/2014/main" id="{71E38AC6-EA36-42C6-91A3-A16FAFE5B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88" y="4461852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12 weeks with Figma: A review from a developer">
            <a:extLst>
              <a:ext uri="{FF2B5EF4-FFF2-40B4-BE49-F238E27FC236}">
                <a16:creationId xmlns:a16="http://schemas.microsoft.com/office/drawing/2014/main" id="{13162668-14D3-9581-F93C-381306F89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5328" y="2357437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Getting Started with Go: Your First 'Hello, World!' | Medium">
            <a:extLst>
              <a:ext uri="{FF2B5EF4-FFF2-40B4-BE49-F238E27FC236}">
                <a16:creationId xmlns:a16="http://schemas.microsoft.com/office/drawing/2014/main" id="{98384E7C-EF51-25E9-24EF-0F90A8A3E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962" y="2550344"/>
            <a:ext cx="2876550" cy="159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outing API: Using Path Details - GraphHopper Directions API">
            <a:extLst>
              <a:ext uri="{FF2B5EF4-FFF2-40B4-BE49-F238E27FC236}">
                <a16:creationId xmlns:a16="http://schemas.microsoft.com/office/drawing/2014/main" id="{56BE135A-DED8-D1E6-6152-37B5A235A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1449" y="4742816"/>
            <a:ext cx="2552700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n 11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82EBE2B9-51B6-5D80-6D85-ACD2EFDA825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31561" y="4533290"/>
            <a:ext cx="2734057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36874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DEMOSTRACIÓN DEL RESULTADO DEL PROYECTO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*Exposición del sistema</a:t>
            </a:r>
            <a:endParaRPr lang="es-CL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17468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-280109" y="0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Resultados Obtenidos</a:t>
            </a:r>
          </a:p>
        </p:txBody>
      </p:sp>
      <p:pic>
        <p:nvPicPr>
          <p:cNvPr id="2050" name="Picture 2" descr="Ilustración de Bus Con Ubicación De Navegación Mapa Pin Icono Vector  Ilustración y más Vectores Libres de Derechos de Autobús - iStock">
            <a:extLst>
              <a:ext uri="{FF2B5EF4-FFF2-40B4-BE49-F238E27FC236}">
                <a16:creationId xmlns:a16="http://schemas.microsoft.com/office/drawing/2014/main" id="{0CD0DA3F-68C4-3BD2-C989-92DF7F93B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7270" y="3166338"/>
            <a:ext cx="2117460" cy="1695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BAC9376-312A-7823-BBE3-0A4BE1F176F6}"/>
              </a:ext>
            </a:extLst>
          </p:cNvPr>
          <p:cNvSpPr txBox="1"/>
          <p:nvPr/>
        </p:nvSpPr>
        <p:spPr>
          <a:xfrm>
            <a:off x="4851027" y="4878883"/>
            <a:ext cx="26154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/>
              <a:t>Logramos una app GPS accesible para personas no videntes que funciona en tiempo real en Santiago</a:t>
            </a:r>
            <a:endParaRPr lang="es-CL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9277E51-A5BC-E55D-C2E6-91603151C2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276" y="911820"/>
            <a:ext cx="1539176" cy="107834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895270F-94FF-0BED-3BEB-41151587DB04}"/>
              </a:ext>
            </a:extLst>
          </p:cNvPr>
          <p:cNvSpPr txBox="1"/>
          <p:nvPr/>
        </p:nvSpPr>
        <p:spPr>
          <a:xfrm>
            <a:off x="394448" y="2132544"/>
            <a:ext cx="19184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Arquitectura en AWS permitió alta disponibilidad, escalabilidad y tiempos de respuesta rápidos.</a:t>
            </a:r>
            <a:endParaRPr lang="es-CL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A768388-375B-40F9-7EC6-510DB156A1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399" y="889510"/>
            <a:ext cx="1224912" cy="127959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915841B0-B42F-8D31-B7DE-C73C1EA25BBB}"/>
              </a:ext>
            </a:extLst>
          </p:cNvPr>
          <p:cNvSpPr txBox="1"/>
          <p:nvPr/>
        </p:nvSpPr>
        <p:spPr>
          <a:xfrm>
            <a:off x="9448801" y="2289175"/>
            <a:ext cx="19184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Integración con </a:t>
            </a:r>
            <a:r>
              <a:rPr lang="es-ES" dirty="0" err="1"/>
              <a:t>OpenAI</a:t>
            </a:r>
            <a:r>
              <a:rPr lang="es-ES" dirty="0"/>
              <a:t> entrega instrucciones por voz claras y personalizadas al usuario.</a:t>
            </a:r>
            <a:endParaRPr lang="es-CL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861534B-9516-B88A-BCB8-FC9BF8C19E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1142" y="1742251"/>
            <a:ext cx="1238319" cy="1279596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D7C8DB21-ABDE-7E5D-5666-EA9E7BB9784B}"/>
              </a:ext>
            </a:extLst>
          </p:cNvPr>
          <p:cNvSpPr txBox="1"/>
          <p:nvPr/>
        </p:nvSpPr>
        <p:spPr>
          <a:xfrm>
            <a:off x="2931012" y="3429000"/>
            <a:ext cx="19184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El sistema mantiene datos seguros y optimizados mediante RDS, Redis y roles IAM.</a:t>
            </a:r>
            <a:endParaRPr lang="es-CL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46E394B4-2FA5-16BC-996A-D3E880A72E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2177" y="1597538"/>
            <a:ext cx="1539176" cy="1569022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9D381A61-7B68-7EC3-8789-1530670A8D00}"/>
              </a:ext>
            </a:extLst>
          </p:cNvPr>
          <p:cNvSpPr txBox="1"/>
          <p:nvPr/>
        </p:nvSpPr>
        <p:spPr>
          <a:xfrm>
            <a:off x="7248636" y="3384665"/>
            <a:ext cx="21062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La solución completa es estable, económica y lista para expandirse a nuevas regiones.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904893737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5838" y="0"/>
            <a:ext cx="851647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Obstáculos presentados durante el desarrollo</a:t>
            </a:r>
          </a:p>
        </p:txBody>
      </p:sp>
      <p:pic>
        <p:nvPicPr>
          <p:cNvPr id="3074" name="Picture 2" descr="Icono de Obstáculo Special Lineal | Freepik">
            <a:extLst>
              <a:ext uri="{FF2B5EF4-FFF2-40B4-BE49-F238E27FC236}">
                <a16:creationId xmlns:a16="http://schemas.microsoft.com/office/drawing/2014/main" id="{9B586CF5-35D9-9453-C60A-2E2D236674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2324" y="1446550"/>
            <a:ext cx="2096804" cy="2096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Experiencia - Iconos gratis de negocios y finanzas">
            <a:extLst>
              <a:ext uri="{FF2B5EF4-FFF2-40B4-BE49-F238E27FC236}">
                <a16:creationId xmlns:a16="http://schemas.microsoft.com/office/drawing/2014/main" id="{A815B81B-C1BE-7A68-4526-DAF301622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3624" y="3872753"/>
            <a:ext cx="2024662" cy="2024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0D88B06-DFD4-ED1F-C528-F55D3E6C95C5}"/>
              </a:ext>
            </a:extLst>
          </p:cNvPr>
          <p:cNvSpPr txBox="1"/>
          <p:nvPr/>
        </p:nvSpPr>
        <p:spPr>
          <a:xfrm>
            <a:off x="466165" y="2029337"/>
            <a:ext cx="727934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1. Integración de múltiples </a:t>
            </a:r>
            <a:r>
              <a:rPr lang="es-ES" b="1" dirty="0" err="1"/>
              <a:t>APIs</a:t>
            </a:r>
            <a:r>
              <a:rPr lang="es-ES" b="1" dirty="0"/>
              <a:t> externas</a:t>
            </a:r>
          </a:p>
          <a:p>
            <a:r>
              <a:rPr lang="es-ES" dirty="0"/>
              <a:t>Dificultad para coordinar datos de Google </a:t>
            </a:r>
            <a:r>
              <a:rPr lang="es-ES" dirty="0" err="1"/>
              <a:t>Maps</a:t>
            </a:r>
            <a:r>
              <a:rPr lang="es-ES" dirty="0"/>
              <a:t>, DTPM y </a:t>
            </a:r>
            <a:r>
              <a:rPr lang="es-ES" dirty="0" err="1"/>
              <a:t>OpenAI</a:t>
            </a:r>
            <a:r>
              <a:rPr lang="es-ES" dirty="0"/>
              <a:t>, ya que cada API tiene formatos, tiempos de respuesta y limitaciones distintas.</a:t>
            </a:r>
          </a:p>
          <a:p>
            <a:br>
              <a:rPr lang="es-ES" dirty="0"/>
            </a:br>
            <a:endParaRPr lang="es-ES" dirty="0"/>
          </a:p>
          <a:p>
            <a:r>
              <a:rPr lang="es-ES" b="1" dirty="0"/>
              <a:t>2. Manejo de geolocalización en tiempo real</a:t>
            </a:r>
          </a:p>
          <a:p>
            <a:r>
              <a:rPr lang="es-ES" dirty="0"/>
              <a:t>Optimizar el rastreo del usuario, rutas y tiempos de buses sin generar consumo excesivo de datos, batería o llamadas innecesarias al </a:t>
            </a:r>
            <a:r>
              <a:rPr lang="es-ES" dirty="0" err="1"/>
              <a:t>backend</a:t>
            </a:r>
            <a:r>
              <a:rPr lang="es-ES" dirty="0"/>
              <a:t>.</a:t>
            </a:r>
          </a:p>
          <a:p>
            <a:br>
              <a:rPr lang="es-ES" dirty="0"/>
            </a:br>
            <a:endParaRPr lang="es-ES" dirty="0"/>
          </a:p>
          <a:p>
            <a:r>
              <a:rPr lang="es-ES" b="1" dirty="0"/>
              <a:t>3. Configuración de la arquitectura en AWS</a:t>
            </a:r>
          </a:p>
          <a:p>
            <a:r>
              <a:rPr lang="es-ES" dirty="0"/>
              <a:t>Desafíos iniciales para orquestar ECS, RDS, S3, Redis e IAM de forma segura, económica y manteniendo la comunicación correcta entre los servicios.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66268508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PREGUNTAS DE LA COMISIÓN</a:t>
            </a:r>
          </a:p>
        </p:txBody>
      </p:sp>
    </p:spTree>
    <p:extLst>
      <p:ext uri="{BB962C8B-B14F-4D97-AF65-F5344CB8AC3E}">
        <p14:creationId xmlns:p14="http://schemas.microsoft.com/office/powerpoint/2010/main" val="415807973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1339</TotalTime>
  <Words>868</Words>
  <Application>Microsoft Office PowerPoint</Application>
  <PresentationFormat>Panorámica</PresentationFormat>
  <Paragraphs>117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Agrandir Heavy Italics</vt:lpstr>
      <vt:lpstr>Agrandir Italics</vt:lpstr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SAMUEL . JIMENEZ SEPULVEDA</cp:lastModifiedBy>
  <cp:revision>13</cp:revision>
  <dcterms:created xsi:type="dcterms:W3CDTF">2023-10-28T21:12:11Z</dcterms:created>
  <dcterms:modified xsi:type="dcterms:W3CDTF">2025-12-06T03:06:12Z</dcterms:modified>
</cp:coreProperties>
</file>